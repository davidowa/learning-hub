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A115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1280160" cy="128016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5143500"/>
          </a:xfrm>
          <a:prstGeom prst="rect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B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PANAMERICANA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Engineering · Algorithm Analysis &amp; Design · COM101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D4B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 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Setup Week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48640" y="26974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professional toolchain, ready.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48640" y="3520440"/>
            <a:ext cx="1371600" cy="36576"/>
          </a:xfrm>
          <a:prstGeom prst="rect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657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· Student Developer Pack · JetBrains Toolbox &amp; Rider · Windows and macOS · Hello World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4B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Academic material · 2026 Edition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411480" cy="41148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Universidad Panamericana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Analysis &amp; Design · COM101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week's roadmap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 1 · three 90-minute classes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2651760" cy="2011680"/>
          </a:xfrm>
          <a:prstGeom prst="rect">
            <a:avLst/>
          </a:prstGeom>
          <a:solidFill>
            <a:srgbClr val="F8F5EE"/>
          </a:solidFill>
          <a:ln w="6350">
            <a:solidFill>
              <a:srgbClr val="C9C5B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874520"/>
            <a:ext cx="2651760" cy="82296"/>
          </a:xfrm>
          <a:prstGeom prst="rect">
            <a:avLst/>
          </a:prstGeom>
          <a:solidFill>
            <a:srgbClr val="A1153D"/>
          </a:solidFill>
          <a:ln w="12700">
            <a:solidFill>
              <a:srgbClr val="A115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057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19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3317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Accounts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29718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account + GitHub Student Developer Pack application.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91840" y="1874520"/>
            <a:ext cx="2651760" cy="2011680"/>
          </a:xfrm>
          <a:prstGeom prst="rect">
            <a:avLst/>
          </a:prstGeom>
          <a:solidFill>
            <a:srgbClr val="F8F5EE"/>
          </a:solidFill>
          <a:ln w="6350">
            <a:solidFill>
              <a:srgbClr val="C9C5B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91840" y="1874520"/>
            <a:ext cx="2651760" cy="82296"/>
          </a:xfrm>
          <a:prstGeom prst="rect">
            <a:avLst/>
          </a:prstGeom>
          <a:solidFill>
            <a:srgbClr val="A1153D"/>
          </a:solidFill>
          <a:ln w="12700">
            <a:solidFill>
              <a:srgbClr val="A115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0" y="2057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19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0" y="23317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Install everything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474720" y="29718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JetBrains license, Toolbox and Rider — step by step on Windows AND macOS.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26480" y="1874520"/>
            <a:ext cx="2651760" cy="2011680"/>
          </a:xfrm>
          <a:prstGeom prst="rect">
            <a:avLst/>
          </a:prstGeom>
          <a:solidFill>
            <a:srgbClr val="F8F5EE"/>
          </a:solidFill>
          <a:ln w="6350">
            <a:solidFill>
              <a:srgbClr val="C9C5B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26480" y="1874520"/>
            <a:ext cx="2651760" cy="82296"/>
          </a:xfrm>
          <a:prstGeom prst="rect">
            <a:avLst/>
          </a:prstGeom>
          <a:solidFill>
            <a:srgbClr val="A1153D"/>
          </a:solidFill>
          <a:ln w="12700">
            <a:solidFill>
              <a:srgbClr val="A115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2057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19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309360" y="23317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 run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309360" y="29718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solution, run Hello World, complete the setup checklist.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A1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of the week: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the room with a professional, fully licensed C# environment that runs code.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A115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502920" cy="50292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4008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D4B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D4B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1 · 90 MIN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251460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Accounts first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777240" y="4023360"/>
            <a:ext cx="914400" cy="36576"/>
          </a:xfrm>
          <a:prstGeom prst="rect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41605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8F5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GitHub + Student Developer Pack — free pro tools for students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411480" cy="41148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Universidad Panamericana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Analysis &amp; Design · COM101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these tools?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stack professional developers use — free for you as a student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8046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400" b="1" dirty="0">
                <a:solidFill>
                  <a:srgbClr val="A1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where the world stores and shares code. Your account is your developer identity — it will outlive this course.</a:t>
            </a:r>
            <a:endParaRPr lang="en-US" sz="140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400" b="1" dirty="0">
                <a:solidFill>
                  <a:srgbClr val="A1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Developer Pack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GitHub verifies you are a student and unlocks dozens of paid tools at no cost.</a:t>
            </a:r>
            <a:endParaRPr lang="en-US" sz="140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400" b="1" dirty="0">
                <a:solidFill>
                  <a:srgbClr val="A1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JetBrains Rider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professional C# IDE (the same family as IntelliJ and PyCharm). Free with the pack.</a:t>
            </a:r>
            <a:endParaRPr lang="en-US" sz="140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400" b="1" dirty="0">
                <a:solidFill>
                  <a:srgbClr val="A1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Toolbox App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JetBrains' installer/updater — it manages Rider versions for you.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Rule of the course: we set things up properly once, so they never get in the way again.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411480" cy="41148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Universidad Panamericana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Analysis &amp; Design · COM101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your GitHub account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github.com — use an email you check often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901952"/>
            <a:ext cx="365760" cy="365760"/>
          </a:xfrm>
          <a:prstGeom prst="ellipse">
            <a:avLst/>
          </a:prstGeom>
          <a:solidFill>
            <a:srgbClr val="A1153D"/>
          </a:solidFill>
          <a:ln w="12700">
            <a:solidFill>
              <a:srgbClr val="A115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9019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1874520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github.com and click Sign up.  </a:t>
            </a:r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personal email (you'll add your UP email later for the pack).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432304"/>
            <a:ext cx="365760" cy="365760"/>
          </a:xfrm>
          <a:prstGeom prst="ellipse">
            <a:avLst/>
          </a:prstGeom>
          <a:solidFill>
            <a:srgbClr val="A1153D"/>
          </a:solidFill>
          <a:ln w="12700">
            <a:solidFill>
              <a:srgbClr val="A115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4323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1560" y="2404872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professional username.  </a:t>
            </a:r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show this to employers someday. name-lastname beats xX_d4rk_g4mer_Xx.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2962656"/>
            <a:ext cx="365760" cy="365760"/>
          </a:xfrm>
          <a:prstGeom prst="ellipse">
            <a:avLst/>
          </a:prstGeom>
          <a:solidFill>
            <a:srgbClr val="A1153D"/>
          </a:solidFill>
          <a:ln w="12700">
            <a:solidFill>
              <a:srgbClr val="A115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9626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51560" y="2935224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your email.  </a:t>
            </a:r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spam if it doesn't arrive in 2 minutes.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493008"/>
            <a:ext cx="365760" cy="365760"/>
          </a:xfrm>
          <a:prstGeom prst="ellipse">
            <a:avLst/>
          </a:prstGeom>
          <a:solidFill>
            <a:srgbClr val="A1153D"/>
          </a:solidFill>
          <a:ln w="12700">
            <a:solidFill>
              <a:srgbClr val="A115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493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51560" y="3465576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two-factor authentication.  </a:t>
            </a:r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→ Password and authentication. Non-negotiable for developers.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44988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Already have an account? Great — just make sure 2FA is on and your UP email is added.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411480" cy="41148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Universidad Panamericana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Analysis &amp; Design · COM101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Apply for the Student Developer Pack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education.github.com/pack — this unlocks your Rider license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901952"/>
            <a:ext cx="365760" cy="365760"/>
          </a:xfrm>
          <a:prstGeom prst="ellipse">
            <a:avLst/>
          </a:prstGeom>
          <a:solidFill>
            <a:srgbClr val="A1153D"/>
          </a:solidFill>
          <a:ln w="12700">
            <a:solidFill>
              <a:srgbClr val="A115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9019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187452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education.github.com/pack and click Sign up for the pack.  </a:t>
            </a:r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 with your GitHub account.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423160"/>
            <a:ext cx="365760" cy="365760"/>
          </a:xfrm>
          <a:prstGeom prst="ellipse">
            <a:avLst/>
          </a:prstGeom>
          <a:solidFill>
            <a:srgbClr val="A1153D"/>
          </a:solidFill>
          <a:ln w="12700">
            <a:solidFill>
              <a:srgbClr val="A115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1560" y="239572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UP email address.  </a:t>
            </a:r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→ Emails → Add — use your @up.edu.mx address and verify it.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2944368"/>
            <a:ext cx="365760" cy="365760"/>
          </a:xfrm>
          <a:prstGeom prst="ellipse">
            <a:avLst/>
          </a:prstGeom>
          <a:solidFill>
            <a:srgbClr val="A1153D"/>
          </a:solidFill>
          <a:ln w="12700">
            <a:solidFill>
              <a:srgbClr val="A115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944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51560" y="2916936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proof of enrollment.  </a:t>
            </a:r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student ID card or enrollment letter, photographed clearly.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465576"/>
            <a:ext cx="365760" cy="365760"/>
          </a:xfrm>
          <a:prstGeom prst="ellipse">
            <a:avLst/>
          </a:prstGeom>
          <a:solidFill>
            <a:srgbClr val="A1153D"/>
          </a:solidFill>
          <a:ln w="12700">
            <a:solidFill>
              <a:srgbClr val="A115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4655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51560" y="3438144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for approval (minutes to a few days).  </a:t>
            </a:r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get an email. Most UP applications are approved fast.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986784"/>
            <a:ext cx="365760" cy="365760"/>
          </a:xfrm>
          <a:prstGeom prst="ellipse">
            <a:avLst/>
          </a:prstGeom>
          <a:solidFill>
            <a:srgbClr val="A1153D"/>
          </a:solidFill>
          <a:ln w="12700">
            <a:solidFill>
              <a:srgbClr val="A115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986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51560" y="3959352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Verify: your dashboard shows the benefits list.  </a:t>
            </a:r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 the JetBrains offer — that's our next stop.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A115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502920" cy="50292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4008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D4B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D4B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2 · 90 MIN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251460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Install everything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777240" y="4023360"/>
            <a:ext cx="914400" cy="36576"/>
          </a:xfrm>
          <a:prstGeom prst="rect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41605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8F5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JetBrains license → Toolbox → Rider, on Windows and macOS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411480" cy="41148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Universidad Panamericana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Analysis &amp; Design · COM101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Claim your JetBrains license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jetbrains.com/student — link it to GitHub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901952"/>
            <a:ext cx="365760" cy="365760"/>
          </a:xfrm>
          <a:prstGeom prst="ellipse">
            <a:avLst/>
          </a:prstGeom>
          <a:solidFill>
            <a:srgbClr val="A1153D"/>
          </a:solidFill>
          <a:ln w="12700">
            <a:solidFill>
              <a:srgbClr val="A115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9019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1874520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jetbrains.com/student.  </a:t>
            </a:r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Apply now.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432304"/>
            <a:ext cx="365760" cy="365760"/>
          </a:xfrm>
          <a:prstGeom prst="ellipse">
            <a:avLst/>
          </a:prstGeom>
          <a:solidFill>
            <a:srgbClr val="A1153D"/>
          </a:solidFill>
          <a:ln w="12700">
            <a:solidFill>
              <a:srgbClr val="A115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4323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1560" y="2404872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'GitHub' as verification method.  </a:t>
            </a:r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 JetBrains to see your student status — approved instantly if your pack is active.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2962656"/>
            <a:ext cx="365760" cy="365760"/>
          </a:xfrm>
          <a:prstGeom prst="ellipse">
            <a:avLst/>
          </a:prstGeom>
          <a:solidFill>
            <a:srgbClr val="A1153D"/>
          </a:solidFill>
          <a:ln w="12700">
            <a:solidFill>
              <a:srgbClr val="A115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9626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51560" y="2935224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your JetBrains Account.  </a:t>
            </a:r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same email; this account holds your license.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493008"/>
            <a:ext cx="365760" cy="365760"/>
          </a:xfrm>
          <a:prstGeom prst="ellipse">
            <a:avLst/>
          </a:prstGeom>
          <a:solidFill>
            <a:srgbClr val="A1153D"/>
          </a:solidFill>
          <a:ln w="12700">
            <a:solidFill>
              <a:srgbClr val="A115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493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51560" y="3465576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Confirm: License 'JetBrains Product Pack for Students' active.  </a:t>
            </a:r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1 year, renewable while you study.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411480" cy="41148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Universidad Panamericana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Analysis &amp; Design · COM101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Install Toolbox + Rider — Windows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jetbrains.com/toolbox-app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901952"/>
            <a:ext cx="365760" cy="365760"/>
          </a:xfrm>
          <a:prstGeom prst="ellipse">
            <a:avLst/>
          </a:prstGeom>
          <a:solidFill>
            <a:srgbClr val="A1153D"/>
          </a:solidFill>
          <a:ln w="12700">
            <a:solidFill>
              <a:srgbClr val="A115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9019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1874520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Toolbox App (.exe) and run it.  </a:t>
            </a:r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defaults; it lives in your system tray.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432304"/>
            <a:ext cx="365760" cy="365760"/>
          </a:xfrm>
          <a:prstGeom prst="ellipse">
            <a:avLst/>
          </a:prstGeom>
          <a:solidFill>
            <a:srgbClr val="A1153D"/>
          </a:solidFill>
          <a:ln w="12700">
            <a:solidFill>
              <a:srgbClr val="A115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4323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1560" y="2404872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Toolbox → find Rider → Install.  </a:t>
            </a:r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GB download. Let it finish.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2962656"/>
            <a:ext cx="365760" cy="365760"/>
          </a:xfrm>
          <a:prstGeom prst="ellipse">
            <a:avLst/>
          </a:prstGeom>
          <a:solidFill>
            <a:srgbClr val="A1153D"/>
          </a:solidFill>
          <a:ln w="12700">
            <a:solidFill>
              <a:srgbClr val="A115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9626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51560" y="2935224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Rider from Toolbox.  </a:t>
            </a:r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launch asks you to log in — use your JetBrains Account.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493008"/>
            <a:ext cx="365760" cy="365760"/>
          </a:xfrm>
          <a:prstGeom prst="ellipse">
            <a:avLst/>
          </a:prstGeom>
          <a:solidFill>
            <a:srgbClr val="A1153D"/>
          </a:solidFill>
          <a:ln w="12700">
            <a:solidFill>
              <a:srgbClr val="A115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493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51560" y="3465576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 installs .NET SDK if missing.  </a:t>
            </a:r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the suggested SDK (latest LTS). Windows may ask for admin permission — say yes.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44988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Antivirus slowing the install? Add the JetBrains folder to exclusions — it's a known false positive.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411480" cy="41148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Universidad Panamericana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Analysis &amp; Design · COM101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Install Toolbox + Rider — macOS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flow, two Mac-specific details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901952"/>
            <a:ext cx="365760" cy="365760"/>
          </a:xfrm>
          <a:prstGeom prst="ellipse">
            <a:avLst/>
          </a:prstGeom>
          <a:solidFill>
            <a:srgbClr val="A1153D"/>
          </a:solidFill>
          <a:ln w="12700">
            <a:solidFill>
              <a:srgbClr val="A115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9019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1874520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Toolbox App (.dmg), drag to Applications.  </a:t>
            </a:r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Silicon vs Intel is auto-detected.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432304"/>
            <a:ext cx="365760" cy="365760"/>
          </a:xfrm>
          <a:prstGeom prst="ellipse">
            <a:avLst/>
          </a:prstGeom>
          <a:solidFill>
            <a:srgbClr val="A1153D"/>
          </a:solidFill>
          <a:ln w="12700">
            <a:solidFill>
              <a:srgbClr val="A115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4323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1560" y="2404872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Toolbox → Rider → Install, then launch and log in.  </a:t>
            </a:r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JetBrains Account as before.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2962656"/>
            <a:ext cx="365760" cy="365760"/>
          </a:xfrm>
          <a:prstGeom prst="ellipse">
            <a:avLst/>
          </a:prstGeom>
          <a:solidFill>
            <a:srgbClr val="A1153D"/>
          </a:solidFill>
          <a:ln w="12700">
            <a:solidFill>
              <a:srgbClr val="A115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9626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51560" y="2935224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macOS blocks it: System Settings → Privacy &amp; Security → Open Anyway.  </a:t>
            </a:r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needed once.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493008"/>
            <a:ext cx="365760" cy="365760"/>
          </a:xfrm>
          <a:prstGeom prst="ellipse">
            <a:avLst/>
          </a:prstGeom>
          <a:solidFill>
            <a:srgbClr val="A1153D"/>
          </a:solidFill>
          <a:ln w="12700">
            <a:solidFill>
              <a:srgbClr val="A115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493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51560" y="3465576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the .NET SDK when Rider offers it.  </a:t>
            </a:r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 downloads the right build for your chip (arm64/x64).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A115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502920" cy="50292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4008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D4B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D4B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3 · 90 MIN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251460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Hello, World!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777240" y="4023360"/>
            <a:ext cx="914400" cy="36576"/>
          </a:xfrm>
          <a:prstGeom prst="rect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41605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8F5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first solution, your first run, your setup checklist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411480" cy="41148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Universidad Panamericana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Analysis &amp; Design · COM101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your first solution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Rider → New Solution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901952"/>
            <a:ext cx="365760" cy="365760"/>
          </a:xfrm>
          <a:prstGeom prst="ellipse">
            <a:avLst/>
          </a:prstGeom>
          <a:solidFill>
            <a:srgbClr val="A1153D"/>
          </a:solidFill>
          <a:ln w="12700">
            <a:solidFill>
              <a:srgbClr val="A115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9019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1874520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Rider → New Solution.  </a:t>
            </a:r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panel: choose .NET / Console Application.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432304"/>
            <a:ext cx="365760" cy="365760"/>
          </a:xfrm>
          <a:prstGeom prst="ellipse">
            <a:avLst/>
          </a:prstGeom>
          <a:solidFill>
            <a:srgbClr val="A1153D"/>
          </a:solidFill>
          <a:ln w="12700">
            <a:solidFill>
              <a:srgbClr val="A115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4323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1560" y="2404872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it ADA_Week01.  </a:t>
            </a:r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folder you'll find again — e.g. Documents/ADA.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2962656"/>
            <a:ext cx="365760" cy="365760"/>
          </a:xfrm>
          <a:prstGeom prst="ellipse">
            <a:avLst/>
          </a:prstGeom>
          <a:solidFill>
            <a:srgbClr val="A1153D"/>
          </a:solidFill>
          <a:ln w="12700">
            <a:solidFill>
              <a:srgbClr val="A115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9626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51560" y="2935224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 scaffolds Program.cs.  </a:t>
            </a:r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the file where your code lives.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493008"/>
            <a:ext cx="365760" cy="365760"/>
          </a:xfrm>
          <a:prstGeom prst="ellipse">
            <a:avLst/>
          </a:prstGeom>
          <a:solidFill>
            <a:srgbClr val="A1153D"/>
          </a:solidFill>
          <a:ln w="12700">
            <a:solidFill>
              <a:srgbClr val="A115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493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51560" y="3465576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the green ▶ Run button (or Ctrl+F5 / Cmd+R).  </a:t>
            </a:r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console panel opens at the bottom with your output.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411480" cy="41148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Universidad Panamericana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Analysis &amp; Design · COM101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first program, line by line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is the whole file — modern C# keeps it minimal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5120640" cy="2743200"/>
          </a:xfrm>
          <a:prstGeom prst="roundRect">
            <a:avLst>
              <a:gd name="adj" fmla="val 2000"/>
            </a:avLst>
          </a:prstGeom>
          <a:solidFill>
            <a:srgbClr val="1E1E24"/>
          </a:solidFill>
          <a:ln w="12700">
            <a:solidFill>
              <a:srgbClr val="2B2B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828800"/>
            <a:ext cx="5120640" cy="292608"/>
          </a:xfrm>
          <a:prstGeom prst="roundRect">
            <a:avLst>
              <a:gd name="adj" fmla="val 18750"/>
            </a:avLst>
          </a:prstGeom>
          <a:solidFill>
            <a:srgbClr val="2B2B33"/>
          </a:solidFill>
          <a:ln w="12700">
            <a:solidFill>
              <a:srgbClr val="2B2B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" y="1929384"/>
            <a:ext cx="91440" cy="91440"/>
          </a:xfrm>
          <a:prstGeom prst="ellipse">
            <a:avLst/>
          </a:prstGeom>
          <a:solidFill>
            <a:srgbClr val="E06C75"/>
          </a:solidFill>
          <a:ln w="12700">
            <a:solidFill>
              <a:srgbClr val="E06C7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" y="1929384"/>
            <a:ext cx="91440" cy="91440"/>
          </a:xfrm>
          <a:prstGeom prst="ellips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7552" y="1929384"/>
            <a:ext cx="91440" cy="91440"/>
          </a:xfrm>
          <a:prstGeom prst="ellips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184708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Program.cs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30352" y="2194560"/>
            <a:ext cx="31089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  <a:p>
            <a:pPr algn="r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  <a:p>
            <a:pPr algn="r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  <a:p>
            <a:pPr algn="r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  <a:p>
            <a:pPr algn="r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  <a:p>
            <a:pPr algn="r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000" dirty="0"/>
          </a:p>
          <a:p>
            <a:pPr algn="r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14400" y="2194560"/>
            <a:ext cx="455371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Program.cs — my first C# program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WriteLine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"Hello, World!"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WriteLine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"I'm ready for COM101."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Console = the terminal window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WriteLine = print one line, then jump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          to the next one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760720" y="1828800"/>
            <a:ext cx="2926080" cy="2743200"/>
          </a:xfrm>
          <a:prstGeom prst="roundRect">
            <a:avLst>
              <a:gd name="adj" fmla="val 2000"/>
            </a:avLst>
          </a:prstGeom>
          <a:solidFill>
            <a:srgbClr val="0D0D12"/>
          </a:solidFill>
          <a:ln w="9525">
            <a:solidFill>
              <a:srgbClr val="B191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70448" y="18745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B19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897880" y="2103120"/>
            <a:ext cx="2651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Hello, World!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I'm ready for COM101.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 finished with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exit code 0.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45902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"Exit code 0" is the computer saying: everything went fine.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411480" cy="41148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Universidad Panamericana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Analysis &amp; Design · COM101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Setup checklist — all boxes before you leave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is graded as Week 1 participation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8046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account created, 2FA enabled, UP email verified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Developer Pack approved (dashboard shows benefits)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JetBrains student license active in your JetBrains Account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Toolbox App installed · Rider installed and logged in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SDK installed (Rider stopped complaining)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ADA_Week01 solution runs Hello World with exit code 0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Stuck on any box? That's exactly what today's lab time is for — raise your hand.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411480" cy="41148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Universidad Panamericana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Analysis &amp; Design · COM101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Troubleshooting — the greatest hits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90% of setup problems are one of these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8046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250" b="1" dirty="0">
                <a:solidFill>
                  <a:srgbClr val="A1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 rejected</a:t>
            </a:r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re-submit with a clearer photo of your student ID; make sure your UP email is verified first.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250" b="1" dirty="0">
                <a:solidFill>
                  <a:srgbClr val="A1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 asks to buy a license</a:t>
            </a:r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log out and back in with the JetBrains Account that holds the student license.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250" b="1" dirty="0">
                <a:solidFill>
                  <a:srgbClr val="A1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'SDK not found' when running</a:t>
            </a:r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File → Settings → Toolset: point Rider to the .NET SDK it installed, or click 'Install SDK'.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250" b="1" dirty="0">
                <a:solidFill>
                  <a:srgbClr val="A1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 'app can't be opened'</a:t>
            </a:r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Privacy &amp; Security → Open Anyway (once).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250" b="1" dirty="0">
                <a:solidFill>
                  <a:srgbClr val="A1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closes instantly (Windows)</a:t>
            </a:r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run with Ctrl+F5, or add Console.ReadKey(); as the last line.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411480" cy="41148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Universidad Panamericana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Analysis &amp; Design · COM101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 — Week 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Prove your setup works · submit on Blackboard before next Monday, 11:59 pm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938528"/>
            <a:ext cx="384048" cy="384048"/>
          </a:xfrm>
          <a:prstGeom prst="ellipse">
            <a:avLst/>
          </a:prstGeom>
          <a:solidFill>
            <a:srgbClr val="A1153D"/>
          </a:solidFill>
          <a:ln w="12700">
            <a:solidFill>
              <a:srgbClr val="A115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938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97280" y="192024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every checklist box.  </a:t>
            </a:r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Whatever you didn't finish in class.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596896"/>
            <a:ext cx="384048" cy="384048"/>
          </a:xfrm>
          <a:prstGeom prst="ellipse">
            <a:avLst/>
          </a:prstGeom>
          <a:solidFill>
            <a:srgbClr val="A1153D"/>
          </a:solidFill>
          <a:ln w="12700">
            <a:solidFill>
              <a:srgbClr val="A115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596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97280" y="2578608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 Hello World:  </a:t>
            </a:r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it print your name, your major, and one thing you want to build someday (3 lines).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255264"/>
            <a:ext cx="384048" cy="384048"/>
          </a:xfrm>
          <a:prstGeom prst="ellipse">
            <a:avLst/>
          </a:prstGeom>
          <a:solidFill>
            <a:srgbClr val="A1153D"/>
          </a:solidFill>
          <a:ln w="12700">
            <a:solidFill>
              <a:srgbClr val="A115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255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97280" y="3236976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Rider with the program AND its output visible.  </a:t>
            </a:r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screenshot, both things visible.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913632"/>
            <a:ext cx="384048" cy="384048"/>
          </a:xfrm>
          <a:prstGeom prst="ellipse">
            <a:avLst/>
          </a:prstGeom>
          <a:solidFill>
            <a:srgbClr val="A1153D"/>
          </a:solidFill>
          <a:ln w="12700">
            <a:solidFill>
              <a:srgbClr val="A115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913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97280" y="3895344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to Blackboard.  </a:t>
            </a:r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Assignment: 'W1 — Setup evidence'.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Format: a single .cs file (or zipped Rider solution) named ADA_W1_LastName.zip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A115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1280160" cy="128016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5143500"/>
          </a:xfrm>
          <a:prstGeom prst="rect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B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UP NEXT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 you in Week 2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4B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Thinking in algorithms — no computer needed (bring a pen)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1371600" cy="36576"/>
          </a:xfrm>
          <a:prstGeom prst="rect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3044952"/>
            <a:ext cx="164592" cy="164592"/>
          </a:xfrm>
          <a:prstGeom prst="ellips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97180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Rider installed and updated — we use it every single week.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" y="3429000"/>
            <a:ext cx="164592" cy="164592"/>
          </a:xfrm>
          <a:prstGeom prst="ellips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355848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your Student Pack: you now own dozens of pro tools.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4360" y="3813048"/>
            <a:ext cx="164592" cy="164592"/>
          </a:xfrm>
          <a:prstGeom prst="ellips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739896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 we won't touch the keyboard: we learn to think first.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4754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4B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Universidad Panamericana · Algorithm Analysis &amp; Design · COM101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2026-07-22T20:54:56Z</dcterms:created>
  <dcterms:modified xsi:type="dcterms:W3CDTF">2026-07-22T20:54:56Z</dcterms:modified>
</cp:coreProperties>
</file>