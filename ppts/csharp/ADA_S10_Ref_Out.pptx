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1280160" cy="128016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PANAMERICANA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Engineering · Algorithm Analysis &amp; Design · COM101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10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value, by reference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 · out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13716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657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variables live · the famous broken Swap · ref fixes it · out returns extra answers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Academic material · 2026 Edition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week's roadmap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10 · three 90-minute classes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2651760" cy="2011680"/>
          </a:xfrm>
          <a:prstGeom prst="rect">
            <a:avLst/>
          </a:prstGeom>
          <a:solidFill>
            <a:srgbClr val="F8F5EE"/>
          </a:solidFill>
          <a:ln w="6350">
            <a:solidFill>
              <a:srgbClr val="C9C5B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74520"/>
            <a:ext cx="2651760" cy="82296"/>
          </a:xfrm>
          <a:prstGeom prst="rect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Copies everywhere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2971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memory does when you call a function — and the broken Swap.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91840" y="1874520"/>
            <a:ext cx="2651760" cy="2011680"/>
          </a:xfrm>
          <a:prstGeom prst="rect">
            <a:avLst/>
          </a:prstGeom>
          <a:solidFill>
            <a:srgbClr val="F8F5EE"/>
          </a:solidFill>
          <a:ln w="6350">
            <a:solidFill>
              <a:srgbClr val="C9C5B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874520"/>
            <a:ext cx="2651760" cy="82296"/>
          </a:xfrm>
          <a:prstGeom prst="rect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0" y="2331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 and out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74720" y="2971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the original variable instead of a copy; multi-answer functions.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1874520"/>
            <a:ext cx="2651760" cy="2011680"/>
          </a:xfrm>
          <a:prstGeom prst="rect">
            <a:avLst/>
          </a:prstGeom>
          <a:solidFill>
            <a:srgbClr val="F8F5EE"/>
          </a:solidFill>
          <a:ln w="6350">
            <a:solidFill>
              <a:srgbClr val="C9C5B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874520"/>
            <a:ext cx="2651760" cy="82296"/>
          </a:xfrm>
          <a:prstGeom prst="rect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09360" y="2331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09360" y="2971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which — with exercises that make the difference visible.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of the week: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exactly what a function can and cannot change — no more mystery bugs.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502920" cy="50292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 · 90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Copies everywhere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77240" y="4023360"/>
            <a:ext cx="9144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160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C# hands your function a photocopy, not the original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do variables actually live?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variables are bytes in RAM — functions get copies of those bytes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8F5EE"/>
          </a:solidFill>
          <a:ln w="9525">
            <a:solidFill>
              <a:srgbClr val="C9C5B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346350"/>
            <a:ext cx="1051560" cy="822960"/>
          </a:xfrm>
          <a:prstGeom prst="roundRect">
            <a:avLst>
              <a:gd name="adj" fmla="val 5556"/>
            </a:avLst>
          </a:prstGeom>
          <a:ln w="31750">
            <a:solidFill>
              <a:srgbClr val="A115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483510"/>
            <a:ext cx="137160" cy="914"/>
          </a:xfrm>
          <a:prstGeom prst="line">
            <a:avLst/>
          </a:prstGeom>
          <a:noFill/>
          <a:ln w="19050">
            <a:solidFill>
              <a:srgbClr val="A115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20240" y="2483510"/>
            <a:ext cx="137160" cy="914"/>
          </a:xfrm>
          <a:prstGeom prst="line">
            <a:avLst/>
          </a:prstGeom>
          <a:noFill/>
          <a:ln w="19050">
            <a:solidFill>
              <a:srgbClr val="A115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757830"/>
            <a:ext cx="137160" cy="914"/>
          </a:xfrm>
          <a:prstGeom prst="line">
            <a:avLst/>
          </a:prstGeom>
          <a:noFill/>
          <a:ln w="19050">
            <a:solidFill>
              <a:srgbClr val="A115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20240" y="2757830"/>
            <a:ext cx="137160" cy="914"/>
          </a:xfrm>
          <a:prstGeom prst="line">
            <a:avLst/>
          </a:prstGeom>
          <a:noFill/>
          <a:ln w="19050">
            <a:solidFill>
              <a:srgbClr val="A115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032150"/>
            <a:ext cx="137160" cy="914"/>
          </a:xfrm>
          <a:prstGeom prst="line">
            <a:avLst/>
          </a:prstGeom>
          <a:noFill/>
          <a:ln w="19050">
            <a:solidFill>
              <a:srgbClr val="A115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20240" y="3032150"/>
            <a:ext cx="137160" cy="914"/>
          </a:xfrm>
          <a:prstGeom prst="line">
            <a:avLst/>
          </a:prstGeom>
          <a:noFill/>
          <a:ln w="19050">
            <a:solidFill>
              <a:srgbClr val="A115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50179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115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26075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your code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606040" y="2346350"/>
            <a:ext cx="1051560" cy="822960"/>
          </a:xfrm>
          <a:prstGeom prst="roundRect">
            <a:avLst>
              <a:gd name="adj" fmla="val 5556"/>
            </a:avLst>
          </a:prstGeom>
          <a:ln w="31750">
            <a:solidFill>
              <a:srgbClr val="B1914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68880" y="2483510"/>
            <a:ext cx="137160" cy="914"/>
          </a:xfrm>
          <a:prstGeom prst="line">
            <a:avLst/>
          </a:prstGeom>
          <a:noFill/>
          <a:ln w="19050">
            <a:solidFill>
              <a:srgbClr val="B1914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0" y="2483510"/>
            <a:ext cx="137160" cy="914"/>
          </a:xfrm>
          <a:prstGeom prst="line">
            <a:avLst/>
          </a:prstGeom>
          <a:noFill/>
          <a:ln w="19050">
            <a:solidFill>
              <a:srgbClr val="B1914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68880" y="2757830"/>
            <a:ext cx="137160" cy="914"/>
          </a:xfrm>
          <a:prstGeom prst="line">
            <a:avLst/>
          </a:prstGeom>
          <a:noFill/>
          <a:ln w="19050">
            <a:solidFill>
              <a:srgbClr val="B191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0" y="2757830"/>
            <a:ext cx="137160" cy="914"/>
          </a:xfrm>
          <a:prstGeom prst="line">
            <a:avLst/>
          </a:prstGeom>
          <a:noFill/>
          <a:ln w="19050">
            <a:solidFill>
              <a:srgbClr val="B1914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68880" y="3032150"/>
            <a:ext cx="137160" cy="914"/>
          </a:xfrm>
          <a:prstGeom prst="line">
            <a:avLst/>
          </a:prstGeom>
          <a:noFill/>
          <a:ln w="19050">
            <a:solidFill>
              <a:srgbClr val="B1914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3032150"/>
            <a:ext cx="137160" cy="914"/>
          </a:xfrm>
          <a:prstGeom prst="line">
            <a:avLst/>
          </a:prstGeom>
          <a:noFill/>
          <a:ln w="19050">
            <a:solidFill>
              <a:srgbClr val="B191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06040" y="250179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191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286000" y="326075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variables live here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343400" y="2346350"/>
            <a:ext cx="1051560" cy="822960"/>
          </a:xfrm>
          <a:prstGeom prst="roundRect">
            <a:avLst>
              <a:gd name="adj" fmla="val 5556"/>
            </a:avLst>
          </a:prstGeom>
          <a:ln w="31750">
            <a:solidFill>
              <a:srgbClr val="1F326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06240" y="2483510"/>
            <a:ext cx="137160" cy="914"/>
          </a:xfrm>
          <a:prstGeom prst="line">
            <a:avLst/>
          </a:prstGeom>
          <a:noFill/>
          <a:ln w="19050">
            <a:solidFill>
              <a:srgbClr val="1F326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94960" y="2483510"/>
            <a:ext cx="137160" cy="914"/>
          </a:xfrm>
          <a:prstGeom prst="line">
            <a:avLst/>
          </a:prstGeom>
          <a:noFill/>
          <a:ln w="19050">
            <a:solidFill>
              <a:srgbClr val="1F326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06240" y="2757830"/>
            <a:ext cx="137160" cy="914"/>
          </a:xfrm>
          <a:prstGeom prst="line">
            <a:avLst/>
          </a:prstGeom>
          <a:noFill/>
          <a:ln w="19050">
            <a:solidFill>
              <a:srgbClr val="1F326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94960" y="2757830"/>
            <a:ext cx="137160" cy="914"/>
          </a:xfrm>
          <a:prstGeom prst="line">
            <a:avLst/>
          </a:prstGeom>
          <a:noFill/>
          <a:ln w="19050">
            <a:solidFill>
              <a:srgbClr val="1F326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06240" y="3032150"/>
            <a:ext cx="137160" cy="914"/>
          </a:xfrm>
          <a:prstGeom prst="line">
            <a:avLst/>
          </a:prstGeom>
          <a:noFill/>
          <a:ln w="19050">
            <a:solidFill>
              <a:srgbClr val="1F326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94960" y="3032150"/>
            <a:ext cx="137160" cy="914"/>
          </a:xfrm>
          <a:prstGeom prst="line">
            <a:avLst/>
          </a:prstGeom>
          <a:noFill/>
          <a:ln w="19050">
            <a:solidFill>
              <a:srgbClr val="1F326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43400" y="250179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2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GPU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023360" y="326075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the pixels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57200" y="422452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CPU runs the code · RAM holds your variables · GPU just draws.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126480" y="1828800"/>
            <a:ext cx="54864" cy="233172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IDEA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55080" y="237744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call Double(x), C# COPIES x's bytes into the parameter.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 works on the copy. The original never feels a thing.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'pass by value' — the default.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famous broken Swap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Looks perfect. Compiles. Runs. Does nothing. Why?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120640" cy="2743200"/>
          </a:xfrm>
          <a:prstGeom prst="roundRect">
            <a:avLst>
              <a:gd name="adj" fmla="val 2000"/>
            </a:avLst>
          </a:prstGeom>
          <a:solidFill>
            <a:srgbClr val="1E1E24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5120640" cy="292608"/>
          </a:xfrm>
          <a:prstGeom prst="roundRect">
            <a:avLst>
              <a:gd name="adj" fmla="val 18750"/>
            </a:avLst>
          </a:prstGeom>
          <a:solidFill>
            <a:srgbClr val="2B2B33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929384"/>
            <a:ext cx="91440" cy="91440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929384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1929384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18470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" y="2194560"/>
            <a:ext cx="3108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50" dirty="0"/>
          </a:p>
          <a:p>
            <a:pPr algn="r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14400" y="2194560"/>
            <a:ext cx="4553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Swap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inside: a=2, b=1. Swapped!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Swap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$"x={x}, y={y}"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...still 1 and 2?!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760720" y="1828800"/>
            <a:ext cx="2926080" cy="2743200"/>
          </a:xfrm>
          <a:prstGeom prst="roundRect">
            <a:avLst>
              <a:gd name="adj" fmla="val 2000"/>
            </a:avLst>
          </a:prstGeom>
          <a:solidFill>
            <a:srgbClr val="0D0D12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0448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97880" y="210312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x=1, y=2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(the swap happened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 the COPIES,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which died when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Swap ended)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5902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and b were photocopies of x and y. Swapping photocopies rearranges nothing in the original.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502920" cy="50292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 · 90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 and out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77240" y="4023360"/>
            <a:ext cx="9144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160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keywords that hand over the original, not the copy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ref: same variable, both sides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keyword in the signature AND at the call — Swap resurrected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120640" cy="2743200"/>
          </a:xfrm>
          <a:prstGeom prst="roundRect">
            <a:avLst>
              <a:gd name="adj" fmla="val 2000"/>
            </a:avLst>
          </a:prstGeom>
          <a:solidFill>
            <a:srgbClr val="1E1E24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5120640" cy="292608"/>
          </a:xfrm>
          <a:prstGeom prst="roundRect">
            <a:avLst>
              <a:gd name="adj" fmla="val 18750"/>
            </a:avLst>
          </a:prstGeom>
          <a:solidFill>
            <a:srgbClr val="2B2B33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929384"/>
            <a:ext cx="91440" cy="91440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929384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1929384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18470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" y="2194560"/>
            <a:ext cx="3108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2194560"/>
            <a:ext cx="4553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Swap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Swap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$"x={x}, y={y}"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60720" y="1828800"/>
            <a:ext cx="2926080" cy="2743200"/>
          </a:xfrm>
          <a:prstGeom prst="roundRect">
            <a:avLst>
              <a:gd name="adj" fmla="val 2000"/>
            </a:avLst>
          </a:prstGeom>
          <a:solidFill>
            <a:srgbClr val="0D0D12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0448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97880" y="210312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x=2, y=1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(now a IS x and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 IS y - same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bytes in RAM)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5902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 = 'here's my actual variable, you may change it.' Both sides must say it — no accidental sharing.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out: functions with extra answers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return gives one value; out parameters deliver the rest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120640" cy="2743200"/>
          </a:xfrm>
          <a:prstGeom prst="roundRect">
            <a:avLst>
              <a:gd name="adj" fmla="val 2000"/>
            </a:avLst>
          </a:prstGeom>
          <a:solidFill>
            <a:srgbClr val="1E1E24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5120640" cy="292608"/>
          </a:xfrm>
          <a:prstGeom prst="roundRect">
            <a:avLst>
              <a:gd name="adj" fmla="val 18750"/>
            </a:avLst>
          </a:prstGeom>
          <a:solidFill>
            <a:srgbClr val="2B2B33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929384"/>
            <a:ext cx="91440" cy="91440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929384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1929384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18470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" y="2194560"/>
            <a:ext cx="3108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850" dirty="0"/>
          </a:p>
          <a:p>
            <a:pPr algn="r"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14400" y="2194560"/>
            <a:ext cx="4553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MinMax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MinMax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$"min={lo}, max={hi}"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pro pattern you'll see everywhere: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"Number: "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TryParse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ReadLine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  <a:p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WriteLine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$"Got {n}"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 a number!"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ts val="1148"/>
              </a:lnSpc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760720" y="1828800"/>
            <a:ext cx="2926080" cy="2743200"/>
          </a:xfrm>
          <a:prstGeom prst="roundRect">
            <a:avLst>
              <a:gd name="adj" fmla="val 2000"/>
            </a:avLst>
          </a:prstGeom>
          <a:solidFill>
            <a:srgbClr val="0D0D12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0448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97880" y="210312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min=2, max=9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Number: hello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a number!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5902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int.TryParse returns a bool AND outputs the number — no crash on bad input. Use it from today on.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 vs out — the contract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 share the original; they differ on who initializes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3931920" cy="2468880"/>
          </a:xfrm>
          <a:prstGeom prst="rect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11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3591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read-modify-write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69748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MUST have a value before the call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may read it and change it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updating something that exists: Swap, ApplyDiscount(ref price)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0" y="1874520"/>
            <a:ext cx="3931920" cy="2468880"/>
          </a:xfrm>
          <a:prstGeom prst="rect">
            <a:avLst/>
          </a:prstGeom>
          <a:solidFill>
            <a:srgbClr val="1F3265"/>
          </a:solidFill>
          <a:ln w="12700">
            <a:solidFill>
              <a:srgbClr val="1F326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2011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23591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 promises to fill it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69748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may be empty before the call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MUST assign it before returning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extra results: MinMax, TryParse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498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Default to plain parameters + return. Reach for ref/out only when they clearly earn it.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502920" cy="50292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3 · 90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77240" y="4023360"/>
            <a:ext cx="9144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160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Making the invisible visible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Exercise 1 — Prove the difference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Solve it in Rider, then compare with the walkthrough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120640" cy="2651760"/>
          </a:xfrm>
          <a:prstGeom prst="rect">
            <a:avLst/>
          </a:prstGeom>
          <a:solidFill>
            <a:srgbClr val="F8F5EE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65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MISSION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ApplyBonus(double salary) (by value) and ApplyBonus(ref double salary) — both add 10%. Call each on a 1000.0 salary and print the result after each call. Explain the output in a comment.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29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salary after BOTH calls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 changed the original?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WHY in one comment line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60720" y="1828800"/>
            <a:ext cx="2926080" cy="2651760"/>
          </a:xfrm>
          <a:prstGeom prst="roundRect">
            <a:avLst>
              <a:gd name="adj" fmla="val 2069"/>
            </a:avLst>
          </a:prstGeom>
          <a:solidFill>
            <a:srgbClr val="0D0D12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70448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897880" y="210312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by-value call: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salary = 1000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ref call: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salary = 1100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760720" y="45262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output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Exercise 2 — The safe divider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Solve it in Rider, then compare with the walkthrough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120640" cy="2651760"/>
          </a:xfrm>
          <a:prstGeom prst="rect">
            <a:avLst/>
          </a:prstGeom>
          <a:solidFill>
            <a:srgbClr val="F8F5EE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65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MISSION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bool TryDivide(int a, int b, out double result): returns false (result 0) when b is 0, true otherwise. Main uses it to divide without ever crashing.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29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the TryParse shape exactly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must be assigned on EVERY path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 = 0 first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60720" y="1828800"/>
            <a:ext cx="2926080" cy="2651760"/>
          </a:xfrm>
          <a:prstGeom prst="roundRect">
            <a:avLst>
              <a:gd name="adj" fmla="val 2069"/>
            </a:avLst>
          </a:prstGeom>
          <a:solidFill>
            <a:srgbClr val="0D0D12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70448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897880" y="210312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2 = 5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0 -&gt; cannot divide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by zero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760720" y="45262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output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 — Week 10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Sharing with intention · submit on Blackboard before next Monday, 11:59 pm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38528"/>
            <a:ext cx="384048" cy="384048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192024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Stats, one call:  </a:t>
            </a:r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Stats(int a,b,c, out double avg, out int min, out int max) — plus a Main that reads 3 numbers with TryParse.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596896"/>
            <a:ext cx="384048" cy="384048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2578608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account:  </a:t>
            </a:r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Deposit(ref double balance, double amount) and Withdraw(ref double balance, double amount) that rejects overdrafts.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255264"/>
            <a:ext cx="384048" cy="384048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55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3236976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Bulletproof input:  </a:t>
            </a:r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Week 9's ReadGradeSafe using int.TryParse — no crash on 'abc'.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913632"/>
            <a:ext cx="384048" cy="384048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3895344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Two-line summary:  </a:t>
            </a:r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comments: one sentence for ref, one for out, your own words.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Format: a single .cs file (or zipped Rider solution) named ADA_W10_LastName.zip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1280160" cy="128016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you in Week 11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 — designing your own types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3716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3044952"/>
            <a:ext cx="164592" cy="164592"/>
          </a:xfrm>
          <a:prstGeom prst="ellips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97180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TryParse everything user-typed from now on. Crashing on input is now a bug.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3429000"/>
            <a:ext cx="164592" cy="164592"/>
          </a:xfrm>
          <a:prstGeom prst="ellips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35584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 predict Swap outputs with/without ref, you've got it.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3813048"/>
            <a:ext cx="164592" cy="164592"/>
          </a:xfrm>
          <a:prstGeom prst="ellips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73989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bundling name+age+gpa into ONE variable you design.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 · Algorithm Analysis &amp; Design · COM101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2026-07-22T21:03:24Z</dcterms:created>
  <dcterms:modified xsi:type="dcterms:W3CDTF">2026-07-22T21:03:24Z</dcterms:modified>
</cp:coreProperties>
</file>