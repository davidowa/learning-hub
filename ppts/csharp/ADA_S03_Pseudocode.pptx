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A115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0"/>
            <a:ext cx="1280160" cy="1280160"/>
          </a:xfrm>
          <a:prstGeom prst="rtTriangl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5143500"/>
          </a:xfrm>
          <a:prstGeom prst="rect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4B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PANAMERICANA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Engineering · Algorithm Analysis &amp; Design · COM101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D4B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 3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187452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Pseudocode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548640" y="26974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Plain words, program shape.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48640" y="3520440"/>
            <a:ext cx="1371600" cy="36576"/>
          </a:xfrm>
          <a:prstGeom prst="rect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657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tiny vocabulary · decisions and loops on paper · your Week 2 algorithms, upgraded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4663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4B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Academic material · 2026 Edition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0"/>
            <a:ext cx="411480" cy="411480"/>
          </a:xfrm>
          <a:prstGeom prst="rtTriangl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800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Universidad Panamericana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 Analysis &amp; Design · COM101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19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week's roadmap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 3 · three 90-minute classes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2651760" cy="2011680"/>
          </a:xfrm>
          <a:prstGeom prst="rect">
            <a:avLst/>
          </a:prstGeom>
          <a:solidFill>
            <a:srgbClr val="F8F5EE"/>
          </a:solidFill>
          <a:ln w="6350">
            <a:solidFill>
              <a:srgbClr val="C9C5B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874520"/>
            <a:ext cx="2651760" cy="82296"/>
          </a:xfrm>
          <a:prstGeom prst="rect">
            <a:avLst/>
          </a:prstGeom>
          <a:solidFill>
            <a:srgbClr val="A1153D"/>
          </a:solidFill>
          <a:ln w="12700">
            <a:solidFill>
              <a:srgbClr val="A115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057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19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3317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vocabulary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" y="29718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ordinary words are the whole language: START, READ, PRINT, IF, ELSE, WHILE, FOR.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91840" y="1874520"/>
            <a:ext cx="2651760" cy="2011680"/>
          </a:xfrm>
          <a:prstGeom prst="rect">
            <a:avLst/>
          </a:prstGeom>
          <a:solidFill>
            <a:srgbClr val="F8F5EE"/>
          </a:solidFill>
          <a:ln w="6350">
            <a:solidFill>
              <a:srgbClr val="C9C5B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91840" y="1874520"/>
            <a:ext cx="2651760" cy="82296"/>
          </a:xfrm>
          <a:prstGeom prst="rect">
            <a:avLst/>
          </a:prstGeom>
          <a:solidFill>
            <a:srgbClr val="A1153D"/>
          </a:solidFill>
          <a:ln w="12700">
            <a:solidFill>
              <a:srgbClr val="A115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0" y="2057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19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0" y="23317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Decisions &amp; loops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474720" y="29718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branching and repetition into clean pseudocode.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126480" y="1874520"/>
            <a:ext cx="2651760" cy="2011680"/>
          </a:xfrm>
          <a:prstGeom prst="rect">
            <a:avLst/>
          </a:prstGeom>
          <a:solidFill>
            <a:srgbClr val="F8F5EE"/>
          </a:solidFill>
          <a:ln w="6350">
            <a:solidFill>
              <a:srgbClr val="C9C5B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26480" y="1874520"/>
            <a:ext cx="2651760" cy="82296"/>
          </a:xfrm>
          <a:prstGeom prst="rect">
            <a:avLst/>
          </a:prstGeom>
          <a:solidFill>
            <a:srgbClr val="A1153D"/>
          </a:solidFill>
          <a:ln w="12700">
            <a:solidFill>
              <a:srgbClr val="A115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360" y="2057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19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309360" y="23317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Practice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309360" y="29718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problems: largest of three, sum of a list, validation.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7200" y="41605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A11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of the week: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any algorithm in a form that is one small step away from real code.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A115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0"/>
            <a:ext cx="502920" cy="502920"/>
          </a:xfrm>
          <a:prstGeom prst="rtTriangl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64008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D4B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10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D4B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1 · 90 MIN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251460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vocabulary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777240" y="4023360"/>
            <a:ext cx="914400" cy="36576"/>
          </a:xfrm>
          <a:prstGeom prst="rect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41605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8F5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Seven words. That's the entire language.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0"/>
            <a:ext cx="411480" cy="411480"/>
          </a:xfrm>
          <a:prstGeom prst="rtTriangl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800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Universidad Panamericana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 Analysis &amp; Design · COM101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19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notebook to screen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Pseudocode is the bridge between your words and C#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5394960" cy="2331720"/>
          </a:xfrm>
          <a:prstGeom prst="roundRect">
            <a:avLst>
              <a:gd name="adj" fmla="val 3137"/>
            </a:avLst>
          </a:prstGeom>
          <a:solidFill>
            <a:srgbClr val="F8F5EE"/>
          </a:solidFill>
          <a:ln w="9525">
            <a:solidFill>
              <a:srgbClr val="C9C5B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2226564"/>
            <a:ext cx="1371600" cy="1188720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0392" y="2363724"/>
            <a:ext cx="128016" cy="128016"/>
          </a:xfrm>
          <a:prstGeom prst="ellipse">
            <a:avLst/>
          </a:prstGeom>
          <a:ln w="15875">
            <a:solidFill>
              <a:srgbClr val="6B6B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50392" y="2638044"/>
            <a:ext cx="128016" cy="128016"/>
          </a:xfrm>
          <a:prstGeom prst="ellipse">
            <a:avLst/>
          </a:prstGeom>
          <a:ln w="15875">
            <a:solidFill>
              <a:srgbClr val="6B6B6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0392" y="2912364"/>
            <a:ext cx="128016" cy="128016"/>
          </a:xfrm>
          <a:prstGeom prst="ellipse">
            <a:avLst/>
          </a:prstGeom>
          <a:ln w="15875">
            <a:solidFill>
              <a:srgbClr val="6B6B6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0392" y="3186684"/>
            <a:ext cx="128016" cy="128016"/>
          </a:xfrm>
          <a:prstGeom prst="ellipse">
            <a:avLst/>
          </a:prstGeom>
          <a:ln w="15875">
            <a:solidFill>
              <a:srgbClr val="6B6B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15568" y="236372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ask age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115568" y="265633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adult: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115568" y="29489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wave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85800" y="353415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words first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514600" y="2820924"/>
            <a:ext cx="833933" cy="914"/>
          </a:xfrm>
          <a:prstGeom prst="line">
            <a:avLst/>
          </a:prstGeom>
          <a:noFill/>
          <a:ln w="25400">
            <a:solidFill>
              <a:srgbClr val="B19147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2468880" y="250088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B19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code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988613" y="2272284"/>
            <a:ext cx="1554480" cy="1005840"/>
          </a:xfrm>
          <a:prstGeom prst="roundRect">
            <a:avLst>
              <a:gd name="adj" fmla="val 4545"/>
            </a:avLst>
          </a:prstGeom>
          <a:ln w="25400">
            <a:solidFill>
              <a:srgbClr val="A115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988613" y="2436876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115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}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4628693" y="3278124"/>
            <a:ext cx="274320" cy="914"/>
          </a:xfrm>
          <a:prstGeom prst="line">
            <a:avLst/>
          </a:prstGeom>
          <a:noFill/>
          <a:ln w="25400">
            <a:solidFill>
              <a:srgbClr val="A1153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45813" y="3278124"/>
            <a:ext cx="640080" cy="109728"/>
          </a:xfrm>
          <a:prstGeom prst="rect">
            <a:avLst/>
          </a:prstGeom>
          <a:ln w="19050">
            <a:solidFill>
              <a:srgbClr val="A115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22853" y="353415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logic, C# syntax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422452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 logic on both sides — only the costume changes.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126480" y="1828800"/>
            <a:ext cx="54864" cy="2331720"/>
          </a:xfrm>
          <a:prstGeom prst="rect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55080" y="18745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11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PSEUDOCODE?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355080" y="2377440"/>
            <a:ext cx="2377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lets you design the LOGIC without fighting syntax errors.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the logic right on paper, and the C# translation in Week 5 becomes almost mechanical.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0"/>
            <a:ext cx="411480" cy="411480"/>
          </a:xfrm>
          <a:prstGeom prst="rtTriangl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800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Universidad Panamericana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 Analysis &amp; Design · COM101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19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seven magic words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Ordinary words, written in CAPS so structure jumps out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920240"/>
            <a:ext cx="80467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250" b="1" dirty="0">
                <a:solidFill>
                  <a:srgbClr val="A11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/ END</a:t>
            </a:r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where the algorithm begins and stops. Every algorithm has exactly one START.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250" b="1" dirty="0">
                <a:solidFill>
                  <a:srgbClr val="A11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x</a:t>
            </a:r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ask the user for a value and remember it with a name (x). Names are variables — more in Week 5.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250" b="1" dirty="0">
                <a:solidFill>
                  <a:srgbClr val="A11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"…"</a:t>
            </a:r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show something on screen: a message or a value.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250" b="1" dirty="0">
                <a:solidFill>
                  <a:srgbClr val="A11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/ ELSE</a:t>
            </a:r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ask a yes/no question; do one thing or the other.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250" b="1" dirty="0">
                <a:solidFill>
                  <a:srgbClr val="A11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</a:t>
            </a:r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repeat while a condition is still true.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250" b="1" dirty="0">
                <a:solidFill>
                  <a:srgbClr val="A11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 = 1 TO n</a:t>
            </a:r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repeat an exact number of times, counting with i.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19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semicolons, no braces, no compiler. Just structure.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0"/>
            <a:ext cx="411480" cy="411480"/>
          </a:xfrm>
          <a:prstGeom prst="rtTriangl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800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Universidad Panamericana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 Analysis &amp; Design · COM101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19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first pseudocode, side by side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'greet by age' idea from Week 2, formalized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5120640" cy="2743200"/>
          </a:xfrm>
          <a:prstGeom prst="roundRect">
            <a:avLst>
              <a:gd name="adj" fmla="val 2000"/>
            </a:avLst>
          </a:prstGeom>
          <a:solidFill>
            <a:srgbClr val="1E1E24"/>
          </a:solidFill>
          <a:ln w="12700">
            <a:solidFill>
              <a:srgbClr val="2B2B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828800"/>
            <a:ext cx="5120640" cy="292608"/>
          </a:xfrm>
          <a:prstGeom prst="roundRect">
            <a:avLst>
              <a:gd name="adj" fmla="val 18750"/>
            </a:avLst>
          </a:prstGeom>
          <a:solidFill>
            <a:srgbClr val="2B2B33"/>
          </a:solidFill>
          <a:ln w="12700">
            <a:solidFill>
              <a:srgbClr val="2B2B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" y="1929384"/>
            <a:ext cx="91440" cy="91440"/>
          </a:xfrm>
          <a:prstGeom prst="ellipse">
            <a:avLst/>
          </a:prstGeom>
          <a:solidFill>
            <a:srgbClr val="E06C75"/>
          </a:solidFill>
          <a:ln w="12700">
            <a:solidFill>
              <a:srgbClr val="E06C7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4672" y="1929384"/>
            <a:ext cx="91440" cy="91440"/>
          </a:xfrm>
          <a:prstGeom prst="ellipse">
            <a:avLst/>
          </a:prstGeom>
          <a:solidFill>
            <a:srgbClr val="E5C07B"/>
          </a:solidFill>
          <a:ln w="12700">
            <a:solidFill>
              <a:srgbClr val="E5C07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87552" y="1929384"/>
            <a:ext cx="91440" cy="91440"/>
          </a:xfrm>
          <a:prstGeom prst="ellipse">
            <a:avLst/>
          </a:prstGeom>
          <a:solidFill>
            <a:srgbClr val="98C379"/>
          </a:solidFill>
          <a:ln w="12700">
            <a:solidFill>
              <a:srgbClr val="98C37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88720" y="184708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greet.pseudo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30352" y="2194560"/>
            <a:ext cx="31089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  <a:p>
            <a:pPr algn="r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  <a:p>
            <a:pPr algn="r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  <a:p>
            <a:pPr algn="r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  <a:p>
            <a:pPr algn="r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00" dirty="0"/>
          </a:p>
          <a:p>
            <a:pPr algn="r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000" dirty="0"/>
          </a:p>
          <a:p>
            <a:pPr algn="r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000" dirty="0"/>
          </a:p>
          <a:p>
            <a:pPr algn="r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000" dirty="0"/>
          </a:p>
          <a:p>
            <a:pPr algn="r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000" dirty="0"/>
          </a:p>
          <a:p>
            <a:pPr algn="r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000" dirty="0"/>
          </a:p>
          <a:p>
            <a:pPr algn="r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14400" y="2194560"/>
            <a:ext cx="455371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"What's your name?"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"How old are you?"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"Welcome, "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"Come back later!"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760720" y="1828800"/>
            <a:ext cx="2926080" cy="2743200"/>
          </a:xfrm>
          <a:prstGeom prst="roundRect">
            <a:avLst>
              <a:gd name="adj" fmla="val 2000"/>
            </a:avLst>
          </a:prstGeom>
          <a:solidFill>
            <a:srgbClr val="0D0D12"/>
          </a:solidFill>
          <a:ln w="9525">
            <a:solidFill>
              <a:srgbClr val="B1914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70448" y="18745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B19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897880" y="2103120"/>
            <a:ext cx="2651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What's your name?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Ana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old are you?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21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Welcome, Ana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57200" y="45902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B19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Indentation shows what's inside the IF — your eyes parse structure instantly.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A115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0"/>
            <a:ext cx="502920" cy="502920"/>
          </a:xfrm>
          <a:prstGeom prst="rtTriangl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64008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D4B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10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D4B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2 · 90 MIN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251460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Decisions &amp; loops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777240" y="4023360"/>
            <a:ext cx="914400" cy="36576"/>
          </a:xfrm>
          <a:prstGeom prst="rect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41605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8F5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two superpowers, now in writing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0"/>
            <a:ext cx="411480" cy="411480"/>
          </a:xfrm>
          <a:prstGeom prst="rtTriangl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800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Universidad Panamericana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 Analysis &amp; Design · COM101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19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WHILE — repeat until something changes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Password gate: classic 'repeat until valid' shape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5120640" cy="2743200"/>
          </a:xfrm>
          <a:prstGeom prst="roundRect">
            <a:avLst>
              <a:gd name="adj" fmla="val 2000"/>
            </a:avLst>
          </a:prstGeom>
          <a:solidFill>
            <a:srgbClr val="1E1E24"/>
          </a:solidFill>
          <a:ln w="12700">
            <a:solidFill>
              <a:srgbClr val="2B2B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828800"/>
            <a:ext cx="5120640" cy="292608"/>
          </a:xfrm>
          <a:prstGeom prst="roundRect">
            <a:avLst>
              <a:gd name="adj" fmla="val 18750"/>
            </a:avLst>
          </a:prstGeom>
          <a:solidFill>
            <a:srgbClr val="2B2B33"/>
          </a:solidFill>
          <a:ln w="12700">
            <a:solidFill>
              <a:srgbClr val="2B2B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" y="1929384"/>
            <a:ext cx="91440" cy="91440"/>
          </a:xfrm>
          <a:prstGeom prst="ellipse">
            <a:avLst/>
          </a:prstGeom>
          <a:solidFill>
            <a:srgbClr val="E06C75"/>
          </a:solidFill>
          <a:ln w="12700">
            <a:solidFill>
              <a:srgbClr val="E06C7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4672" y="1929384"/>
            <a:ext cx="91440" cy="91440"/>
          </a:xfrm>
          <a:prstGeom prst="ellipse">
            <a:avLst/>
          </a:prstGeom>
          <a:solidFill>
            <a:srgbClr val="E5C07B"/>
          </a:solidFill>
          <a:ln w="12700">
            <a:solidFill>
              <a:srgbClr val="E5C07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87552" y="1929384"/>
            <a:ext cx="91440" cy="91440"/>
          </a:xfrm>
          <a:prstGeom prst="ellipse">
            <a:avLst/>
          </a:prstGeom>
          <a:solidFill>
            <a:srgbClr val="98C379"/>
          </a:solidFill>
          <a:ln w="12700">
            <a:solidFill>
              <a:srgbClr val="98C37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88720" y="184708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gate.pseudo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30352" y="2194560"/>
            <a:ext cx="31089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  <a:p>
            <a:pPr algn="r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  <a:p>
            <a:pPr algn="r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  <a:p>
            <a:pPr algn="r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  <a:p>
            <a:pPr algn="r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00" dirty="0"/>
          </a:p>
          <a:p>
            <a:pPr algn="r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000" dirty="0"/>
          </a:p>
          <a:p>
            <a:pPr algn="r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000" dirty="0"/>
          </a:p>
          <a:p>
            <a:pPr algn="r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14400" y="2194560"/>
            <a:ext cx="455371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password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password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"sesame"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"Wrong, try again"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password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"Door opens!"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760720" y="1828800"/>
            <a:ext cx="2926080" cy="2743200"/>
          </a:xfrm>
          <a:prstGeom prst="roundRect">
            <a:avLst>
              <a:gd name="adj" fmla="val 2000"/>
            </a:avLst>
          </a:prstGeom>
          <a:solidFill>
            <a:srgbClr val="0D0D12"/>
          </a:solidFill>
          <a:ln w="9525">
            <a:solidFill>
              <a:srgbClr val="B1914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70448" y="18745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B19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897880" y="2103120"/>
            <a:ext cx="2651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hello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Wrong, try again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1234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Wrong, try again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sesame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Door opens!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57200" y="45902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B19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condition is checked BEFORE each round. Wrong 100 times? Loops 100 times.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0"/>
            <a:ext cx="411480" cy="411480"/>
          </a:xfrm>
          <a:prstGeom prst="rtTriangl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800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Universidad Panamericana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 Analysis &amp; Design · COM101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19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— repeat an exact number of times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Counted repetition with a built-in counter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5120640" cy="2743200"/>
          </a:xfrm>
          <a:prstGeom prst="roundRect">
            <a:avLst>
              <a:gd name="adj" fmla="val 2000"/>
            </a:avLst>
          </a:prstGeom>
          <a:solidFill>
            <a:srgbClr val="1E1E24"/>
          </a:solidFill>
          <a:ln w="12700">
            <a:solidFill>
              <a:srgbClr val="2B2B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828800"/>
            <a:ext cx="5120640" cy="292608"/>
          </a:xfrm>
          <a:prstGeom prst="roundRect">
            <a:avLst>
              <a:gd name="adj" fmla="val 18750"/>
            </a:avLst>
          </a:prstGeom>
          <a:solidFill>
            <a:srgbClr val="2B2B33"/>
          </a:solidFill>
          <a:ln w="12700">
            <a:solidFill>
              <a:srgbClr val="2B2B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" y="1929384"/>
            <a:ext cx="91440" cy="91440"/>
          </a:xfrm>
          <a:prstGeom prst="ellipse">
            <a:avLst/>
          </a:prstGeom>
          <a:solidFill>
            <a:srgbClr val="E06C75"/>
          </a:solidFill>
          <a:ln w="12700">
            <a:solidFill>
              <a:srgbClr val="E06C7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4672" y="1929384"/>
            <a:ext cx="91440" cy="91440"/>
          </a:xfrm>
          <a:prstGeom prst="ellipse">
            <a:avLst/>
          </a:prstGeom>
          <a:solidFill>
            <a:srgbClr val="E5C07B"/>
          </a:solidFill>
          <a:ln w="12700">
            <a:solidFill>
              <a:srgbClr val="E5C07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87552" y="1929384"/>
            <a:ext cx="91440" cy="91440"/>
          </a:xfrm>
          <a:prstGeom prst="ellipse">
            <a:avLst/>
          </a:prstGeom>
          <a:solidFill>
            <a:srgbClr val="98C379"/>
          </a:solidFill>
          <a:ln w="12700">
            <a:solidFill>
              <a:srgbClr val="98C37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88720" y="184708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sheep.pseudo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30352" y="2194560"/>
            <a:ext cx="31089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  <a:p>
            <a:pPr algn="r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  <a:p>
            <a:pPr algn="r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  <a:p>
            <a:pPr algn="r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  <a:p>
            <a:pPr algn="r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00" dirty="0"/>
          </a:p>
          <a:p>
            <a:pPr algn="r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000" dirty="0"/>
          </a:p>
          <a:p>
            <a:pPr algn="r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14400" y="2194560"/>
            <a:ext cx="455371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sheep..."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"Asleep!"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760720" y="1828800"/>
            <a:ext cx="2926080" cy="2743200"/>
          </a:xfrm>
          <a:prstGeom prst="roundRect">
            <a:avLst>
              <a:gd name="adj" fmla="val 2000"/>
            </a:avLst>
          </a:prstGeom>
          <a:solidFill>
            <a:srgbClr val="0D0D12"/>
          </a:solidFill>
          <a:ln w="9525">
            <a:solidFill>
              <a:srgbClr val="B1914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70448" y="18745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B19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897880" y="2103120"/>
            <a:ext cx="2651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4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sheep...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sheep...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sheep...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sheep...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Asleep!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57200" y="45902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B19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counts for you: 1, 2, 3, … n. You'll meet it again as for(int i…) in Week 8.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0"/>
            <a:ext cx="411480" cy="411480"/>
          </a:xfrm>
          <a:prstGeom prst="rtTriangl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800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Universidad Panamericana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 Analysis &amp; Design · COM101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19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Combining them: sum of N numbers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accumulator — the most useful pattern in the course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5120640" cy="2743200"/>
          </a:xfrm>
          <a:prstGeom prst="roundRect">
            <a:avLst>
              <a:gd name="adj" fmla="val 2000"/>
            </a:avLst>
          </a:prstGeom>
          <a:solidFill>
            <a:srgbClr val="1E1E24"/>
          </a:solidFill>
          <a:ln w="12700">
            <a:solidFill>
              <a:srgbClr val="2B2B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828800"/>
            <a:ext cx="5120640" cy="292608"/>
          </a:xfrm>
          <a:prstGeom prst="roundRect">
            <a:avLst>
              <a:gd name="adj" fmla="val 18750"/>
            </a:avLst>
          </a:prstGeom>
          <a:solidFill>
            <a:srgbClr val="2B2B33"/>
          </a:solidFill>
          <a:ln w="12700">
            <a:solidFill>
              <a:srgbClr val="2B2B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" y="1929384"/>
            <a:ext cx="91440" cy="91440"/>
          </a:xfrm>
          <a:prstGeom prst="ellipse">
            <a:avLst/>
          </a:prstGeom>
          <a:solidFill>
            <a:srgbClr val="E06C75"/>
          </a:solidFill>
          <a:ln w="12700">
            <a:solidFill>
              <a:srgbClr val="E06C7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4672" y="1929384"/>
            <a:ext cx="91440" cy="91440"/>
          </a:xfrm>
          <a:prstGeom prst="ellipse">
            <a:avLst/>
          </a:prstGeom>
          <a:solidFill>
            <a:srgbClr val="E5C07B"/>
          </a:solidFill>
          <a:ln w="12700">
            <a:solidFill>
              <a:srgbClr val="E5C07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87552" y="1929384"/>
            <a:ext cx="91440" cy="91440"/>
          </a:xfrm>
          <a:prstGeom prst="ellipse">
            <a:avLst/>
          </a:prstGeom>
          <a:solidFill>
            <a:srgbClr val="98C379"/>
          </a:solidFill>
          <a:ln w="12700">
            <a:solidFill>
              <a:srgbClr val="98C37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88720" y="184708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A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sum.pseudo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30352" y="2194560"/>
            <a:ext cx="31089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  <a:p>
            <a:pPr algn="r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  <a:p>
            <a:pPr algn="r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  <a:p>
            <a:pPr algn="r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  <a:p>
            <a:pPr algn="r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00" dirty="0"/>
          </a:p>
          <a:p>
            <a:pPr algn="r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000" dirty="0"/>
          </a:p>
          <a:p>
            <a:pPr algn="r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000" dirty="0"/>
          </a:p>
          <a:p>
            <a:pPr algn="r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000" dirty="0"/>
          </a:p>
          <a:p>
            <a:pPr algn="r"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6E6E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14400" y="2194560"/>
            <a:ext cx="455371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B5CE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"Total: "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endParaRPr lang="en-US" sz="10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760720" y="1828800"/>
            <a:ext cx="2926080" cy="2743200"/>
          </a:xfrm>
          <a:prstGeom prst="roundRect">
            <a:avLst>
              <a:gd name="adj" fmla="val 2000"/>
            </a:avLst>
          </a:prstGeom>
          <a:solidFill>
            <a:srgbClr val="0D0D12"/>
          </a:solidFill>
          <a:ln w="9525">
            <a:solidFill>
              <a:srgbClr val="B1914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70448" y="18745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B19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897880" y="2103120"/>
            <a:ext cx="2651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3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10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25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7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Total: 42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57200" y="459028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B19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sum starts at 0 and 'accumulates'. Memorize this shape — it returns in Week 8.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A115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0"/>
            <a:ext cx="502920" cy="502920"/>
          </a:xfrm>
          <a:prstGeom prst="rtTriangl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64008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D4B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10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D4B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3 · 90 MIN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251460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Practice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777240" y="4023360"/>
            <a:ext cx="914400" cy="36576"/>
          </a:xfrm>
          <a:prstGeom prst="rect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41605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8F5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classics every programmer has solved on paper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0"/>
            <a:ext cx="411480" cy="411480"/>
          </a:xfrm>
          <a:prstGeom prst="rtTriangl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800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Universidad Panamericana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 Analysis &amp; Design · COM101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19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Exercise 1 — Largest of three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Solve it in Rider, then compare with the walkthrough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5120640" cy="2651760"/>
          </a:xfrm>
          <a:prstGeom prst="rect">
            <a:avLst/>
          </a:prstGeom>
          <a:solidFill>
            <a:srgbClr val="F8F5EE"/>
          </a:solidFill>
          <a:ln w="9525">
            <a:solidFill>
              <a:srgbClr val="B1914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9659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11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MISSION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224028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pseudocode that READs three numbers and PRINTs the largest one. No shortcuts: only IF/ELSE.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4290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B19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365760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–"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two first, keep a 'winner'</a:t>
            </a:r>
            <a:endParaRPr lang="en-US" sz="1050" dirty="0"/>
          </a:p>
          <a:p>
            <a:pPr marL="127000" indent="-127000">
              <a:spcAft>
                <a:spcPts val="300"/>
              </a:spcAft>
              <a:buSzPct val="100000"/>
              <a:buChar char="–"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compare the winner vs the third</a:t>
            </a:r>
            <a:endParaRPr lang="en-US" sz="1050" dirty="0"/>
          </a:p>
          <a:p>
            <a:pPr marL="127000" indent="-127000">
              <a:spcAft>
                <a:spcPts val="300"/>
              </a:spcAft>
              <a:buSzPct val="100000"/>
              <a:buChar char="–"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out: what if two are equal?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760720" y="1828800"/>
            <a:ext cx="2926080" cy="2651760"/>
          </a:xfrm>
          <a:prstGeom prst="roundRect">
            <a:avLst>
              <a:gd name="adj" fmla="val 2069"/>
            </a:avLst>
          </a:prstGeom>
          <a:solidFill>
            <a:srgbClr val="0D0D12"/>
          </a:solidFill>
          <a:ln w="9525">
            <a:solidFill>
              <a:srgbClr val="B1914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70448" y="18745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B19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897880" y="2103120"/>
            <a:ext cx="26517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12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47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30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largest is 47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760720" y="452628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Expected output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0"/>
            <a:ext cx="411480" cy="411480"/>
          </a:xfrm>
          <a:prstGeom prst="rtTriangl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800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Universidad Panamericana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 Analysis &amp; Design · COM101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19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Exercise 2 — The picky vending machine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Solve it in Rider, then compare with the walkthrough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5120640" cy="2651760"/>
          </a:xfrm>
          <a:prstGeom prst="rect">
            <a:avLst/>
          </a:prstGeom>
          <a:solidFill>
            <a:srgbClr val="F8F5EE"/>
          </a:solidFill>
          <a:ln w="9525">
            <a:solidFill>
              <a:srgbClr val="B1914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9659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11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MISSION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224028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drink costs 15 pesos. READ coins one by one, WHILE the total is under 15. Then PRINT the change (if any).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4290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B19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365760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–"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Accumulator for the running total</a:t>
            </a:r>
            <a:endParaRPr lang="en-US" sz="1050" dirty="0"/>
          </a:p>
          <a:p>
            <a:pPr marL="127000" indent="-127000">
              <a:spcAft>
                <a:spcPts val="300"/>
              </a:spcAft>
              <a:buSzPct val="100000"/>
              <a:buChar char="–"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condition: total &lt; 15</a:t>
            </a:r>
            <a:endParaRPr lang="en-US" sz="1050" dirty="0"/>
          </a:p>
          <a:p>
            <a:pPr marL="127000" indent="-127000">
              <a:spcAft>
                <a:spcPts val="300"/>
              </a:spcAft>
              <a:buSzPct val="100000"/>
              <a:buChar char="–"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= total − 15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760720" y="1828800"/>
            <a:ext cx="2926080" cy="2651760"/>
          </a:xfrm>
          <a:prstGeom prst="roundRect">
            <a:avLst>
              <a:gd name="adj" fmla="val 2069"/>
            </a:avLst>
          </a:prstGeom>
          <a:solidFill>
            <a:srgbClr val="0D0D12"/>
          </a:solidFill>
          <a:ln w="9525">
            <a:solidFill>
              <a:srgbClr val="B1914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70448" y="18745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B19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897880" y="2103120"/>
            <a:ext cx="26517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5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5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2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5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Drink dispensed!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Change: 2 pesos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760720" y="452628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Expected output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0"/>
            <a:ext cx="411480" cy="411480"/>
          </a:xfrm>
          <a:prstGeom prst="rtTriangl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800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Universidad Panamericana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 Analysis &amp; Design · COM101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19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 — Week 3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Translate your Week 2 algorithms · submit on Blackboard before next Monday, 11:59 pm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938528"/>
            <a:ext cx="384048" cy="384048"/>
          </a:xfrm>
          <a:prstGeom prst="ellipse">
            <a:avLst/>
          </a:prstGeom>
          <a:solidFill>
            <a:srgbClr val="A1153D"/>
          </a:solidFill>
          <a:ln w="12700">
            <a:solidFill>
              <a:srgbClr val="A115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938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97280" y="1920240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your 3 algorithms from last week.  </a:t>
            </a:r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ones with decisions and repetitions.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596896"/>
            <a:ext cx="384048" cy="384048"/>
          </a:xfrm>
          <a:prstGeom prst="ellipse">
            <a:avLst/>
          </a:prstGeom>
          <a:solidFill>
            <a:srgbClr val="A1153D"/>
          </a:solidFill>
          <a:ln w="12700">
            <a:solidFill>
              <a:srgbClr val="A115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596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97280" y="2578608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each in formal pseudocode.  </a:t>
            </a:r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 keywords, indentation, one action per line.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255264"/>
            <a:ext cx="384048" cy="384048"/>
          </a:xfrm>
          <a:prstGeom prst="ellipse">
            <a:avLst/>
          </a:prstGeom>
          <a:solidFill>
            <a:srgbClr val="A1153D"/>
          </a:solidFill>
          <a:ln w="12700">
            <a:solidFill>
              <a:srgbClr val="A115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2552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97280" y="3236976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one: average of 5 grades.  </a:t>
            </a:r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5 grades with a FOR, accumulate, PRINT average and whether it passes (&gt;= 6).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913632"/>
            <a:ext cx="384048" cy="384048"/>
          </a:xfrm>
          <a:prstGeom prst="ellipse">
            <a:avLst/>
          </a:prstGeom>
          <a:solidFill>
            <a:srgbClr val="A1153D"/>
          </a:solidFill>
          <a:ln w="12700">
            <a:solidFill>
              <a:srgbClr val="A115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913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97280" y="3895344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as PDF on Blackboard.  </a:t>
            </a:r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'W3 — Pseudocode'. Typed or clean handwriting.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19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Format: a single .cs file (or zipped Rider solution) named ADA_W3_LastName.zip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A115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0"/>
            <a:ext cx="1280160" cy="1280160"/>
          </a:xfrm>
          <a:prstGeom prst="rtTriangl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5143500"/>
          </a:xfrm>
          <a:prstGeom prst="rect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4B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UP NEXT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See you in Week 4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2103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4B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Flowcharts — your logic, as a picture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2697480"/>
            <a:ext cx="1371600" cy="36576"/>
          </a:xfrm>
          <a:prstGeom prst="rect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3044952"/>
            <a:ext cx="164592" cy="164592"/>
          </a:xfrm>
          <a:prstGeom prst="ellips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97180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seven words on a sticky note — you'll use them for months.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4360" y="3429000"/>
            <a:ext cx="164592" cy="164592"/>
          </a:xfrm>
          <a:prstGeom prst="ellips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355848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week: the same logic, drawn with four shapes.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4360" y="3813048"/>
            <a:ext cx="164592" cy="164592"/>
          </a:xfrm>
          <a:prstGeom prst="ellips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739896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Optional: try translating the vending machine to a drawing before class.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4754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4B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Universidad Panamericana · Algorithm Analysis &amp; Design · COM101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2026-07-22T20:57:42Z</dcterms:created>
  <dcterms:modified xsi:type="dcterms:W3CDTF">2026-07-22T20:57:42Z</dcterms:modified>
</cp:coreProperties>
</file>