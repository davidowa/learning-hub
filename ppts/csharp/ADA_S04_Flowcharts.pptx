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PANAMERICANA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7498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· Algorithm Analysis &amp; Design · COM101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Flowcharts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 you can see.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548640" y="352044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6576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shapes · decision diamonds · loops that draw circles · from chart to pseudocode and back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6634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Academic material · 2026 Edition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week's roadmap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 4 · three 90-minute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shapes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Oval, rectangle, diamond, parallelogram — and the rules of the game.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9184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7472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 on paper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47472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repetition looks: the arrow that goes back.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1874520"/>
            <a:ext cx="2651760" cy="2011680"/>
          </a:xfrm>
          <a:prstGeom prst="rect">
            <a:avLst/>
          </a:prstGeom>
          <a:solidFill>
            <a:srgbClr val="F8F5EE"/>
          </a:solidFill>
          <a:ln w="6350">
            <a:solidFill>
              <a:srgbClr val="C9C5B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874520"/>
            <a:ext cx="2651760" cy="82296"/>
          </a:xfrm>
          <a:prstGeom prst="rect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09360" y="233172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09360" y="29718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↔ pseudocode, both directions, until it's automatic.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of the week: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and draw any algorithm as a diagram — the universal language of whiteboards.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shapes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drawing kit for logic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shapes are all you need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flowchart in the world is built from these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8F5EE"/>
          </a:solidFill>
          <a:ln w="9525">
            <a:solidFill>
              <a:srgbClr val="C9C5B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417674"/>
            <a:ext cx="1051560" cy="512064"/>
          </a:xfrm>
          <a:prstGeom prst="ellipse">
            <a:avLst/>
          </a:prstGeom>
          <a:ln w="25400">
            <a:solidFill>
              <a:srgbClr val="A11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85186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End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80260" y="2417674"/>
            <a:ext cx="1051560" cy="512064"/>
          </a:xfrm>
          <a:prstGeom prst="rect">
            <a:avLst/>
          </a:prstGeom>
          <a:ln w="254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51660" y="3085186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474720" y="2326234"/>
            <a:ext cx="868680" cy="694944"/>
          </a:xfrm>
          <a:prstGeom prst="diamond">
            <a:avLst/>
          </a:prstGeom>
          <a:ln w="25400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3085186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86300" y="2417674"/>
            <a:ext cx="1051560" cy="512064"/>
          </a:xfrm>
          <a:prstGeom prst="parallelogram">
            <a:avLst/>
          </a:prstGeom>
          <a:ln w="25400">
            <a:solidFill>
              <a:srgbClr val="1F32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7700" y="3085186"/>
            <a:ext cx="13030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2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/ Output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8640" y="3450946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shapes are enough to draw any idea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2245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Oval = start/end · Rectangle = do · Diamond = ask · Parallelogram = in/out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26480" y="1828800"/>
            <a:ext cx="54864" cy="233172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55080" y="18745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35508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Exactly one Start.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Arrows show the ONE path the computer follows.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Diamonds ask yes/no questions — two arrows out, always labeled.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Every path must reach an End.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first flowchart: even or odd?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decision, two paths, both reach End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914400" cy="45720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71600" y="3063240"/>
            <a:ext cx="320040" cy="914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691640" y="2807208"/>
            <a:ext cx="1371600" cy="502920"/>
          </a:xfrm>
          <a:prstGeom prst="parallelogram">
            <a:avLst/>
          </a:prstGeom>
          <a:solidFill>
            <a:srgbClr val="1F3265"/>
          </a:solidFill>
          <a:ln w="12700">
            <a:solidFill>
              <a:srgbClr val="1F32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91640" y="2807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063240" y="3063240"/>
            <a:ext cx="320040" cy="914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383280" y="2606040"/>
            <a:ext cx="1280160" cy="914400"/>
          </a:xfrm>
          <a:prstGeom prst="diamond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6060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even?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 flipV="1">
            <a:off x="4663440" y="2331720"/>
            <a:ext cx="594360" cy="7315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49140" y="244144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257800" y="2103120"/>
            <a:ext cx="1645920" cy="502920"/>
          </a:xfrm>
          <a:prstGeom prst="parallelogram">
            <a:avLst/>
          </a:prstGeom>
          <a:solidFill>
            <a:srgbClr val="1F3265"/>
          </a:solidFill>
          <a:ln w="12700">
            <a:solidFill>
              <a:srgbClr val="1F32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57800" y="21031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"even"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3063240"/>
            <a:ext cx="594360" cy="73152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549140" y="34747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257800" y="3566160"/>
            <a:ext cx="1645920" cy="502920"/>
          </a:xfrm>
          <a:prstGeom prst="parallelogram">
            <a:avLst/>
          </a:prstGeom>
          <a:solidFill>
            <a:srgbClr val="1F3265"/>
          </a:solidFill>
          <a:ln w="12700">
            <a:solidFill>
              <a:srgbClr val="1F326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57800" y="3566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"odd"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903720" y="2359152"/>
            <a:ext cx="685800" cy="612648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V="1">
            <a:off x="6903720" y="3200400"/>
            <a:ext cx="685800" cy="621792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89520" y="2834640"/>
            <a:ext cx="914400" cy="45720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0" y="28346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it with n = 7: Start → Read → diamond asks 'is 7 even?' → NO → Print "odd" → End.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2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Loops on paper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Repetition = an arrow that dares to go backwards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loop: sum the numbers 1 to 10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backwards arrow is the whole trick — follow it with your finger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22960" cy="45720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88720" y="2743200"/>
            <a:ext cx="274320" cy="914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63040" y="2377440"/>
            <a:ext cx="1188720" cy="7315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6304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0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1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51760" y="2743200"/>
            <a:ext cx="320040" cy="914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71800" y="2286000"/>
            <a:ext cx="1280160" cy="914400"/>
          </a:xfrm>
          <a:prstGeom prst="diamond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28600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&lt;= 10?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3200400"/>
            <a:ext cx="914" cy="77724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200400" y="358902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834640" y="3977640"/>
            <a:ext cx="1554480" cy="68580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34640" y="397764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= sum + i     i = i + 1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 flipH="1">
            <a:off x="2194560" y="4297680"/>
            <a:ext cx="640080" cy="914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2194560" y="2834640"/>
            <a:ext cx="914" cy="1463040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251960" y="2743200"/>
            <a:ext cx="731520" cy="914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206240" y="248716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983480" y="2487168"/>
            <a:ext cx="1371600" cy="502920"/>
          </a:xfrm>
          <a:prstGeom prst="parallelogram">
            <a:avLst/>
          </a:prstGeom>
          <a:solidFill>
            <a:srgbClr val="1F3265"/>
          </a:solidFill>
          <a:ln w="12700">
            <a:solidFill>
              <a:srgbClr val="1F326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24871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sum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2743200"/>
            <a:ext cx="365760" cy="914"/>
          </a:xfrm>
          <a:prstGeom prst="line">
            <a:avLst/>
          </a:prstGeom>
          <a:noFill/>
          <a:ln w="22225">
            <a:solidFill>
              <a:srgbClr val="6B6B6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720840" y="2514600"/>
            <a:ext cx="822960" cy="457200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20840" y="251460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3383280"/>
            <a:ext cx="3703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anatomy: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 (sum=0, i=1) → check (i≤10?) → body (add, count) → back to check. When the diamond says NO, the loop is over and sum holds 55.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Reading a flowchart like a computer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finger-trace method — works every time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046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your finger on Start.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There is only one. That's where execution begins.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arrow. Do exactly what each box says.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Rectangles change values; parallelograms move data in/out.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diamond, answer the question with current values.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Then take ONLY that labeled arrow.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table of variables on paper.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i: 1, 2, 3… sum: 0, 1, 3, 6… — this is called a trace table.</a:t>
            </a:r>
            <a:endParaRPr lang="en-US" sz="1250" dirty="0"/>
          </a:p>
          <a:p>
            <a:pPr marL="152400" indent="-152400">
              <a:spcAft>
                <a:spcPts val="1000"/>
              </a:spcAft>
              <a:buSzPct val="100000"/>
              <a:buChar char="▪"/>
            </a:pPr>
            <a:r>
              <a:rPr lang="en-US" sz="1250" b="1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stop only at End.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If your finger loops forever, you found an infinite loop — congrats, now fix it.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Trace tables are how you debug before the computer even exists.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502920" cy="50292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400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3 · 90 MIN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777240" y="4023360"/>
            <a:ext cx="9144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160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8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Both directions: draw it, then write it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1 — Chart → pseudocode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the 'sum 1 to 10' flowchart from Class 2 and write its pseudocode. Then generalize: READ n and sum 1 to n instead of 10.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diamond becomes WHILE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back-arrow is automatic in WHILE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Generalizing = replacing 10 with 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READ n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 = 0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 = 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i &lt;= n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 = sum + i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 = i + 1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 WHILE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PRINT sum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Exercise 2 — Pseudocode → chart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Solve it in Rider, then compare with the walkthrough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120640" cy="2651760"/>
          </a:xfrm>
          <a:prstGeom prst="rect">
            <a:avLst/>
          </a:prstGeom>
          <a:solidFill>
            <a:srgbClr val="F8F5EE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A1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MISSION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2402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flowchart for the vending machine from Week 3 (drink = 15 pesos, insert coins WHILE total &lt; 15, give change). Four shapes only.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WHILE is a diamond + back arrow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a coin is a parallelogram</a:t>
            </a:r>
            <a:endParaRPr lang="en-US" sz="1050" dirty="0"/>
          </a:p>
          <a:p>
            <a:pPr marL="127000" indent="-127000">
              <a:spcAft>
                <a:spcPts val="300"/>
              </a:spcAft>
              <a:buSzPct val="100000"/>
              <a:buChar char="–"/>
            </a:pPr>
            <a:r>
              <a:rPr lang="en-US" sz="10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calculation is a rectangle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60720" y="1828800"/>
            <a:ext cx="2926080" cy="2651760"/>
          </a:xfrm>
          <a:prstGeom prst="roundRect">
            <a:avLst>
              <a:gd name="adj" fmla="val 2069"/>
            </a:avLst>
          </a:prstGeom>
          <a:solidFill>
            <a:srgbClr val="0D0D12"/>
          </a:solidFill>
          <a:ln w="9525">
            <a:solidFill>
              <a:srgbClr val="B191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70448" y="18745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B191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897880" y="2103120"/>
            <a:ext cx="26517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Shapes you should end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 using: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ovals (Start, End)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2+ parallelograms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(read coin, print)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rectangles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(total=0, change calc)</a:t>
            </a:r>
            <a:endParaRPr lang="en-US" sz="950" dirty="0"/>
          </a:p>
          <a:p>
            <a:pPr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D8F3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diamond (total &lt; 15?)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760720" y="45262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output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411480" cy="41148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800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0" y="4800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Analysis &amp; Design · COM101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 — Week 4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chart-pseudocode round trip · submit on Blackboard before next Monday, 11:59 pm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938528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192024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flowcharts for your 3 Week-3 pseudocodes.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Ruler or app (draw.io / diagrams.net) — both accepted.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96896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596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97280" y="2578608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problem: 'guess my number'.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 number is 42; READ guesses WHILE wrong; print tries count. Chart + pseudocode.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255264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2552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36976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Trace-table your guess-game with guesses 10, 50, 42.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columns: guess, tries.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913632"/>
            <a:ext cx="384048" cy="384048"/>
          </a:xfrm>
          <a:prstGeom prst="ellipse">
            <a:avLst/>
          </a:prstGeom>
          <a:solidFill>
            <a:srgbClr val="A1153D"/>
          </a:solidFill>
          <a:ln w="12700">
            <a:solidFill>
              <a:srgbClr val="A115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913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097280" y="3895344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PDF on Blackboard.  </a:t>
            </a:r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'W4 — Flowcharts'.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191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Format: a single .cs file (or zipped Rider solution) named ADA_W4_LastName.zip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A115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0" y="0"/>
            <a:ext cx="1280160" cy="1280160"/>
          </a:xfrm>
          <a:prstGeom prst="rtTriangl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4B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UP NEXT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See you in Week 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C# at last — your logic meets a real compiler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371600" cy="36576"/>
          </a:xfrm>
          <a:prstGeom prst="rect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3044952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971800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laptop with Rider ready (Week 1 checklist!).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429000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355848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pseudocode vocabulary maps almost 1:1 to C# — you'll feel at home.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813048"/>
            <a:ext cx="164592" cy="164592"/>
          </a:xfrm>
          <a:prstGeom prst="ellipse">
            <a:avLst/>
          </a:prstGeom>
          <a:solidFill>
            <a:srgbClr val="B19147"/>
          </a:solidFill>
          <a:ln w="12700">
            <a:solidFill>
              <a:srgbClr val="B191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739896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now on, every class ends with running code.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D4B97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Universidad Panamericana · Algorithm Analysis &amp; Design · COM101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2026-07-22T20:57:43Z</dcterms:created>
  <dcterms:modified xsi:type="dcterms:W3CDTF">2026-07-22T20:57:43Z</dcterms:modified>
</cp:coreProperties>
</file>