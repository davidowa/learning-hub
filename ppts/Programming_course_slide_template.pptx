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Preséntate, nombra el curso y la unidad. 60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Marca los tiempos de cada bloque. No leas la lista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objetivos se evalúan en la tarea. Léelos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Ubica la sesión de hoy dentro del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Cambio de bloque. Pausa breve.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primero, ejemplifica después. Evita mencionar sintaxis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el diagrama de izquierda a derecha señalando cada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el código línea por línea. Pregunta qué imprime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 lógica en C#. Contrasta tipado estático contra dinámico.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Ejecuta en vivo si hay tiempo; si no, esta captura basta.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VBA importa porque muchos alumnos lo verán en la industria.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referencia. No la leas entera: señala dos filas.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método aplica a cualquier ejercicio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para justificar por qué insistimos en el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Entramos a la parte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Pide que levanten la mano quienes ya cayeron en el tercero.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origen del método y pide que lo prueben en el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minutos. Recorre el salón; no des la respuesta antes del minuto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Levantada de manos por opción antes de revelar la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Traza la tabla i / condición en el pizarrón si hubo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Refactor: mismo resultado, mejor lectura.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Introducción suave a costo computacional; se profundiza en la unidad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Sirve para cerrar el bloque de depuración.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Últimos 15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ideas, no más. Repite las mismas palabras de los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Fechas y rúbrica. Confirma que quedó claro el formato de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 solo el primero; el resto queda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contacto y siguiente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referencia interna. Elimínala antes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de estilo de la plantilla. Elimínala antes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14400"/>
            <a:ext cx="571500" cy="57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1062038"/>
            <a:ext cx="59250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38" kern="0" dirty="0">
                <a:solidFill>
                  <a:srgbClr val="93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FACULTAD DE INGENIERÍA · 2026</a:t>
            </a:r>
            <a:endParaRPr lang="en-US" sz="1875" dirty="0"/>
          </a:p>
        </p:txBody>
      </p:sp>
      <p:sp>
        <p:nvSpPr>
          <p:cNvPr id="4" name="Text 1"/>
          <p:cNvSpPr/>
          <p:nvPr/>
        </p:nvSpPr>
        <p:spPr>
          <a:xfrm>
            <a:off x="952500" y="3942715"/>
            <a:ext cx="142494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 03 — FUNDAMENTOS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2500" y="4466590"/>
            <a:ext cx="13342620" cy="2157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33"/>
              </a:lnSpc>
              <a:buNone/>
            </a:pPr>
            <a:r>
              <a:rPr lang="en-US" sz="8100" spc="-81" kern="0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Estructuras de control y funciones</a:t>
            </a:r>
            <a:endParaRPr lang="en-US" sz="8100" dirty="0"/>
          </a:p>
        </p:txBody>
      </p:sp>
      <p:sp>
        <p:nvSpPr>
          <p:cNvPr id="6" name="Text 3"/>
          <p:cNvSpPr/>
          <p:nvPr/>
        </p:nvSpPr>
        <p:spPr>
          <a:xfrm>
            <a:off x="952500" y="6928485"/>
            <a:ext cx="10595610" cy="1015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91"/>
              </a:lnSpc>
              <a:buNone/>
            </a:pPr>
            <a:r>
              <a:rPr lang="en-US" sz="2850" dirty="0">
                <a:solidFill>
                  <a:srgbClr val="B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mismo modelo mental, cuatro lenguajes — C#, C++, Python y VBA</a:t>
            </a:r>
            <a:endParaRPr lang="en-US" sz="2850" dirty="0"/>
          </a:p>
        </p:txBody>
      </p:sp>
      <p:sp>
        <p:nvSpPr>
          <p:cNvPr id="7" name="Shape 4"/>
          <p:cNvSpPr/>
          <p:nvPr/>
        </p:nvSpPr>
        <p:spPr>
          <a:xfrm>
            <a:off x="952500" y="8515350"/>
            <a:ext cx="16383000" cy="9525"/>
          </a:xfrm>
          <a:prstGeom prst="rect">
            <a:avLst/>
          </a:prstGeom>
          <a:solidFill>
            <a:srgbClr val="F7F8FA">
              <a:alpha val="1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52500" y="8867775"/>
            <a:ext cx="35810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F9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2500" y="9201150"/>
            <a:ext cx="358103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Escobar-Castillejos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741386" y="8867775"/>
            <a:ext cx="286524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F9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41386" y="9201150"/>
            <a:ext cx="286524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de 16 · 90 minutos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7061180" y="9267825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9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5730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bloques de trabajo en 90 minutos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388870"/>
            <a:ext cx="3895725" cy="2973705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6825" y="2741295"/>
            <a:ext cx="359378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66825" y="3369945"/>
            <a:ext cx="359378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y diagnóstico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6825" y="3888105"/>
            <a:ext cx="336508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recordamos de condicionales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6825" y="4733925"/>
            <a:ext cx="35937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114925" y="2388870"/>
            <a:ext cx="3895725" cy="2973705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9250" y="2741295"/>
            <a:ext cx="359378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429250" y="3369945"/>
            <a:ext cx="359378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y sintaxis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29250" y="3888105"/>
            <a:ext cx="336508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Bucles y funciones en los cuatro lenguajes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29250" y="4733925"/>
            <a:ext cx="35937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77350" y="2388870"/>
            <a:ext cx="3895725" cy="2973705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91675" y="2741295"/>
            <a:ext cx="359378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591675" y="3369945"/>
            <a:ext cx="359378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guiado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591675" y="3888105"/>
            <a:ext cx="336508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en parejas con revisión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591675" y="4733925"/>
            <a:ext cx="35937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3439775" y="2388870"/>
            <a:ext cx="3895725" cy="2973705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54100" y="2741295"/>
            <a:ext cx="359378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3754100" y="3369945"/>
            <a:ext cx="3593783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tarea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54100" y="3888105"/>
            <a:ext cx="336508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y criterios de evaluación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754100" y="4733925"/>
            <a:ext cx="35937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8" name="Shape 25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9" name="Shape 26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30" name="Text 27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 DE APRENDIZAJE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terminar la sesión el alumno podrá…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388870"/>
            <a:ext cx="2476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71600" y="2350770"/>
            <a:ext cx="733425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5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la estructura de repetición adecuada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71600" y="2850832"/>
            <a:ext cx="686752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for, while y do-while según el problema, no según el hábito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8724900" y="2388870"/>
            <a:ext cx="2476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0" y="2350770"/>
            <a:ext cx="6902926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5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Descomponer un problema en funciones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0" y="2850832"/>
            <a:ext cx="6902926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responsabilidad por función, parámetros explícitos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52500" y="3990022"/>
            <a:ext cx="2476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71600" y="3951922"/>
            <a:ext cx="691742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5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Traducir el mismo algoritmo entre lenguajes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71600" y="4451985"/>
            <a:ext cx="691742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pseudocódigo a Python, C#, C++ y VBA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8724900" y="3990022"/>
            <a:ext cx="2476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0" y="3951922"/>
            <a:ext cx="6867525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5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errores leyendo el código en voz alta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0" y="4856797"/>
            <a:ext cx="733425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Rubber duck debugging como método de trabajo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0" name="Shape 17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1" name="Shape 18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2" name="Text 19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DEL CURSO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estamos en el semestre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426970"/>
            <a:ext cx="3943350" cy="571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88920"/>
            <a:ext cx="40024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SESIONES 1–4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952500" y="3179445"/>
            <a:ext cx="400240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y tipos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3659505"/>
            <a:ext cx="374770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Memoria, conversión y entrada/salida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4895850" y="2426970"/>
            <a:ext cx="4248150" cy="571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200650" y="2788920"/>
            <a:ext cx="40024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SESIONES 5–6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5200650" y="3179445"/>
            <a:ext cx="400240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Condicionales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00650" y="3659505"/>
            <a:ext cx="40024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booleana y anidamiento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144000" y="2426970"/>
            <a:ext cx="4248150" cy="212788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66700" dist="76200" dir="5400000">
              <a:srgbClr val="0F172A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0" y="2426970"/>
            <a:ext cx="4248150" cy="5715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4" name="Text 12"/>
          <p:cNvSpPr/>
          <p:nvPr/>
        </p:nvSpPr>
        <p:spPr>
          <a:xfrm>
            <a:off x="9448800" y="2788920"/>
            <a:ext cx="40024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SESIONES 7–10 · HOY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448800" y="3179445"/>
            <a:ext cx="400240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Bucles y funciones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448800" y="3659505"/>
            <a:ext cx="40024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Repetición, alcance y retorno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3392150" y="2426970"/>
            <a:ext cx="3943350" cy="57150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8" name="Text 16"/>
          <p:cNvSpPr/>
          <p:nvPr/>
        </p:nvSpPr>
        <p:spPr>
          <a:xfrm>
            <a:off x="13696950" y="2788920"/>
            <a:ext cx="40024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SESIONES 11–16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3696950" y="3179445"/>
            <a:ext cx="400240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Arreglos y archivos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696950" y="3659505"/>
            <a:ext cx="40024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Colecciones y persistencia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5" name="Shape 22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6" name="Shape 23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7" name="Text 24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287078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849053"/>
            <a:ext cx="13735050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05"/>
              </a:lnSpc>
              <a:buNone/>
            </a:pPr>
            <a:r>
              <a:rPr lang="en-US" sz="7500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concepto antes que la sintaxis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52500" y="6192202"/>
            <a:ext cx="981075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09"/>
              </a:lnSpc>
              <a:buNone/>
            </a:pPr>
            <a:r>
              <a:rPr lang="en-US" sz="2700" dirty="0">
                <a:solidFill>
                  <a:srgbClr val="B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problema resuelve un bucle, y por qué la respuesta no cambia de lenguaje a lenguaje.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CONCEPTO CLAVE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bucle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350770"/>
            <a:ext cx="6867525" cy="1531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09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instrucción que se repite mientras una condición siga siendo verdadera — </a:t>
            </a:r>
            <a:pPr algn="l" indent="0" marL="0">
              <a:lnSpc>
                <a:spcPct val="117209"/>
              </a:lnSpc>
              <a:buNone/>
            </a:pPr>
            <a:r>
              <a:rPr lang="en-US" sz="30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</a:t>
            </a:r>
            <a:pPr algn="l" indent="0" marL="0">
              <a:lnSpc>
                <a:spcPct val="117209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literatura en inglés.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52500" y="4149090"/>
            <a:ext cx="78486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4425315"/>
            <a:ext cx="86334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TRES PIEZAS OBLIGATORIAS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52500" y="4872990"/>
            <a:ext cx="863346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Inicialización · condición de salida · avance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52500" y="5430202"/>
            <a:ext cx="863346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falta cualquiera de las tres, el bucle no termina o no empieza.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486900" y="2350770"/>
            <a:ext cx="7848600" cy="3829050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15525" y="2779395"/>
            <a:ext cx="533400" cy="533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877425" y="277939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39425" y="2884170"/>
            <a:ext cx="284778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Inicializa el contador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915525" y="3522345"/>
            <a:ext cx="533400" cy="5334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877425" y="352234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639425" y="3627120"/>
            <a:ext cx="27084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la condición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915525" y="4265295"/>
            <a:ext cx="533400" cy="533400"/>
          </a:xfrm>
          <a:prstGeom prst="ellipse">
            <a:avLst/>
          </a:prstGeom>
          <a:solidFill>
            <a:srgbClr val="B4530A"/>
          </a:solidFill>
          <a:ln/>
        </p:spPr>
      </p:sp>
      <p:sp>
        <p:nvSpPr>
          <p:cNvPr id="17" name="Text 15"/>
          <p:cNvSpPr/>
          <p:nvPr/>
        </p:nvSpPr>
        <p:spPr>
          <a:xfrm>
            <a:off x="9877425" y="426529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39425" y="4370070"/>
            <a:ext cx="377399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el cuerpo y avanza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915525" y="5084445"/>
            <a:ext cx="720109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↺ vuelve al paso 2 hasta que la condición sea falsa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1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5" name="Shape 22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6" name="Text 23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una función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426970"/>
            <a:ext cx="4933950" cy="2268855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2779395"/>
            <a:ext cx="47777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247775" y="3188970"/>
            <a:ext cx="477774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541"/>
              </a:lnSpc>
              <a:buNone/>
            </a:pPr>
            <a:r>
              <a:rPr lang="en-US" sz="23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247775" y="3676650"/>
            <a:ext cx="447370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que la función necesita para trabajar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6076950" y="3318510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686550" y="2436495"/>
            <a:ext cx="4914900" cy="2249805"/>
          </a:xfrm>
          <a:prstGeom prst="roundRect">
            <a:avLst>
              <a:gd name="adj" fmla="val 5927"/>
            </a:avLst>
          </a:prstGeom>
          <a:solidFill>
            <a:srgbClr val="0B1B3A"/>
          </a:solidFill>
          <a:ln/>
        </p:spPr>
      </p:sp>
      <p:sp>
        <p:nvSpPr>
          <p:cNvPr id="10" name="Text 8"/>
          <p:cNvSpPr/>
          <p:nvPr/>
        </p:nvSpPr>
        <p:spPr>
          <a:xfrm>
            <a:off x="6972300" y="2779395"/>
            <a:ext cx="47777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PROCESO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972300" y="3188970"/>
            <a:ext cx="477774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541"/>
              </a:lnSpc>
              <a:buNone/>
            </a:pPr>
            <a:r>
              <a:rPr lang="en-US" sz="2325" b="1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Cuerpo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6972300" y="3676650"/>
            <a:ext cx="447370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B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responsabilidad, variables locales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1791950" y="3318510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2401550" y="2593657"/>
            <a:ext cx="4933950" cy="1935480"/>
          </a:xfrm>
          <a:prstGeom prst="roundRect">
            <a:avLst>
              <a:gd name="adj" fmla="val 6890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96825" y="2946082"/>
            <a:ext cx="47777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2696825" y="3355657"/>
            <a:ext cx="477774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541"/>
              </a:lnSpc>
              <a:buNone/>
            </a:pPr>
            <a:r>
              <a:rPr lang="en-US" sz="23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12696825" y="3843338"/>
            <a:ext cx="47777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valor, un tipo, sin efectos ocultos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52500" y="5114925"/>
            <a:ext cx="10988040" cy="853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puedes nombrar la función con un verbo y un sustantivo — </a:t>
            </a:r>
            <a:pPr algn="l" indent="0" marL="0">
              <a:lnSpc>
                <a:spcPct val="127424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calcularPromedio </a:t>
            </a:r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probablemente hace más de una cosa.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3" name="Shape 20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4" name="Shape 21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5" name="Text 22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 for con acumulador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74570"/>
            <a:ext cx="9509760" cy="4627880"/>
          </a:xfrm>
          <a:prstGeom prst="roundRect">
            <a:avLst>
              <a:gd name="adj" fmla="val 2881"/>
            </a:avLst>
          </a:prstGeom>
          <a:solidFill>
            <a:srgbClr val="0B1B3A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912745"/>
            <a:ext cx="9509760" cy="9525"/>
          </a:xfrm>
          <a:prstGeom prst="rect">
            <a:avLst/>
          </a:prstGeom>
          <a:solidFill>
            <a:srgbClr val="F7F8FA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2531745"/>
            <a:ext cx="123825" cy="123825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1514475" y="2465070"/>
            <a:ext cx="16596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9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324612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6B7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 el promedio de una lista de notas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57300" y="366268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calcular_promedio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(calificaciones):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57300" y="407924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57300" y="449580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calificaciones: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57300" y="491236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nota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257300" y="532892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/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(calificaciones)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257300" y="574548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257300" y="616204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(calcular_promedio([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0995660" y="2350770"/>
            <a:ext cx="6973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3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995660" y="2722245"/>
            <a:ext cx="6973824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acumulador se inicializa fuera del bucle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10995660" y="3394710"/>
            <a:ext cx="6973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4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995660" y="3766185"/>
            <a:ext cx="6973824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itera sobre elementos, no sobre índices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0995660" y="4438650"/>
            <a:ext cx="6973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995660" y="4810125"/>
            <a:ext cx="6973824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vacía → división entre cero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Shape 23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7" name="Shape 24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8" name="Text 25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algoritmo, con tipos explícitos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74570"/>
            <a:ext cx="9509760" cy="464693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2025" y="2284095"/>
            <a:ext cx="9490710" cy="6477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6" name="Shape 4"/>
          <p:cNvSpPr/>
          <p:nvPr/>
        </p:nvSpPr>
        <p:spPr>
          <a:xfrm>
            <a:off x="962025" y="2922270"/>
            <a:ext cx="949071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7" name="Shape 5"/>
          <p:cNvSpPr/>
          <p:nvPr/>
        </p:nvSpPr>
        <p:spPr>
          <a:xfrm>
            <a:off x="1266825" y="2541270"/>
            <a:ext cx="123825" cy="1238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2474595"/>
            <a:ext cx="16596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Promedio.cs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6825" y="3255645"/>
            <a:ext cx="9147544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Los tipos de entrada y salida son obligatorios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66825" y="3672205"/>
            <a:ext cx="9147544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CalcularPromedio(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notas)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66825" y="4088765"/>
            <a:ext cx="9147544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66825" y="4505325"/>
            <a:ext cx="9147544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 =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266825" y="4921885"/>
            <a:ext cx="9147544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notas)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266825" y="5338445"/>
            <a:ext cx="9147544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nota;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266825" y="5755005"/>
            <a:ext cx="9147544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)total / notas.Length;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266825" y="6171565"/>
            <a:ext cx="9147544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0995660" y="2350770"/>
            <a:ext cx="6973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 1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995660" y="2722245"/>
            <a:ext cx="6973824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compilador exige declarar cada tipo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0995660" y="3394710"/>
            <a:ext cx="6973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 2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995660" y="3766185"/>
            <a:ext cx="6973824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el cast a double la división sería entera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10995660" y="4438650"/>
            <a:ext cx="6339840" cy="1297305"/>
          </a:xfrm>
          <a:prstGeom prst="roundRect">
            <a:avLst>
              <a:gd name="adj" fmla="val 10279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71885" y="4714875"/>
            <a:ext cx="63661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AL GRUPO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271885" y="5086350"/>
            <a:ext cx="636612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imprime si quitamos el cast?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8" name="Shape 25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9" name="Shape 26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30" name="Text 27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 · DEMOSTRACIÓN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y salida esperada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74570"/>
            <a:ext cx="7981950" cy="5268912"/>
          </a:xfrm>
          <a:prstGeom prst="roundRect">
            <a:avLst>
              <a:gd name="adj" fmla="val 2531"/>
            </a:avLst>
          </a:prstGeom>
          <a:solidFill>
            <a:srgbClr val="0B1B3A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912745"/>
            <a:ext cx="7981950" cy="9525"/>
          </a:xfrm>
          <a:prstGeom prst="rect">
            <a:avLst/>
          </a:prstGeom>
          <a:solidFill>
            <a:srgbClr val="F7F8FA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2531745"/>
            <a:ext cx="123825" cy="123825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1514475" y="2465070"/>
            <a:ext cx="13578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9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tabla.cpp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3227070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&lt;iostream&gt;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57300" y="3628231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57300" y="4029392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57300" y="4430554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&lt;=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57300" y="4831715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std::cout &lt;&lt;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"7 x "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i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57300" y="5232876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= "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&lt;&lt;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57300" y="5634038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&lt;&lt; std::endl;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57300" y="6035199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57300" y="6436360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57300" y="6837521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353550" y="2274570"/>
            <a:ext cx="7981950" cy="5268912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3075" y="2284095"/>
            <a:ext cx="7962900" cy="6477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9363075" y="2922270"/>
            <a:ext cx="79629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1" name="Shape 19"/>
          <p:cNvSpPr/>
          <p:nvPr/>
        </p:nvSpPr>
        <p:spPr>
          <a:xfrm>
            <a:off x="9667875" y="2541270"/>
            <a:ext cx="123825" cy="12382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925050" y="2474595"/>
            <a:ext cx="10363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67875" y="3236595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x 1 = 7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667875" y="3637756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x 2 = 14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667875" y="4038917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x 3 = 21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667875" y="4440079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x 4 = 28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667875" y="4841240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x 5 = 35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363075" y="6362383"/>
            <a:ext cx="79629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9" name="Text 27"/>
          <p:cNvSpPr/>
          <p:nvPr/>
        </p:nvSpPr>
        <p:spPr>
          <a:xfrm>
            <a:off x="9667875" y="6619558"/>
            <a:ext cx="759218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el 5 por 10 y pide a los alumnos que predigan la salida antes de compilar.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4" name="Shape 31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5" name="Shape 32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36" name="Text 33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VBA · EXCEL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bucle sobre una hoja de cálculo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74570"/>
            <a:ext cx="9509760" cy="4627880"/>
          </a:xfrm>
          <a:prstGeom prst="roundRect">
            <a:avLst>
              <a:gd name="adj" fmla="val 2881"/>
            </a:avLst>
          </a:prstGeom>
          <a:solidFill>
            <a:srgbClr val="0B1B3A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912745"/>
            <a:ext cx="9509760" cy="9525"/>
          </a:xfrm>
          <a:prstGeom prst="rect">
            <a:avLst/>
          </a:prstGeom>
          <a:solidFill>
            <a:srgbClr val="F7F8FA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2531745"/>
            <a:ext cx="123825" cy="123825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1514475" y="2465070"/>
            <a:ext cx="16596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9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Modulo1.bas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324612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6B7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Suma la columna A y escribe el total en C1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57300" y="366268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SumarColumna()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57300" y="407924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total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57300" y="449580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257300" y="491236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total + Cells(i,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).Value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257300" y="532892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257300" y="574548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Range(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"C1"</a:t>
            </a:r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).Value = total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257300" y="6162040"/>
            <a:ext cx="9167165" cy="4546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778"/>
              </a:lnSpc>
              <a:buNone/>
            </a:pPr>
            <a:r>
              <a:rPr lang="en-US" sz="2025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Sub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0995660" y="2350770"/>
            <a:ext cx="6973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SE CONSERVA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995660" y="2722245"/>
            <a:ext cx="6973824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Inicialización, condición y avance siguen ahí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10995660" y="3394710"/>
            <a:ext cx="6973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CAMBIA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995660" y="3766185"/>
            <a:ext cx="6973824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bucle lee celdas, no una lista en memoria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0995660" y="4438650"/>
            <a:ext cx="69738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995660" y="4810125"/>
            <a:ext cx="6973824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30"/>
              </a:lnSpc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Celdas vacías o texto rompen la suma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Shape 23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7" name="Shape 24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8" name="Text 25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 COMPARATIVA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idea en cuatro sintaxis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3007995"/>
            <a:ext cx="3485674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522220"/>
            <a:ext cx="31330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LENGUAJE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4438174" y="3007995"/>
            <a:ext cx="4531519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666774" y="2522220"/>
            <a:ext cx="42102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BUCLE CONTADO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8969693" y="3007995"/>
            <a:ext cx="4531519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198293" y="2522220"/>
            <a:ext cx="42102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DECLARAR FUNCIÓN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3501211" y="3007995"/>
            <a:ext cx="3834289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13729811" y="2522220"/>
            <a:ext cx="349211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TIPADO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52500" y="3817620"/>
            <a:ext cx="3485674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3274695"/>
            <a:ext cx="31330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4438174" y="3817620"/>
            <a:ext cx="453151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5" name="Text 13"/>
          <p:cNvSpPr/>
          <p:nvPr/>
        </p:nvSpPr>
        <p:spPr>
          <a:xfrm>
            <a:off x="4666774" y="3274695"/>
            <a:ext cx="42102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8969693" y="3817620"/>
            <a:ext cx="453151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7" name="Text 15"/>
          <p:cNvSpPr/>
          <p:nvPr/>
        </p:nvSpPr>
        <p:spPr>
          <a:xfrm>
            <a:off x="9198293" y="3274695"/>
            <a:ext cx="42102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f(x):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3501211" y="3817620"/>
            <a:ext cx="383428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9" name="Text 17"/>
          <p:cNvSpPr/>
          <p:nvPr/>
        </p:nvSpPr>
        <p:spPr>
          <a:xfrm>
            <a:off x="13729811" y="3274695"/>
            <a:ext cx="34921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Dinámico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52500" y="4617720"/>
            <a:ext cx="3485674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4074795"/>
            <a:ext cx="31330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4438174" y="4617720"/>
            <a:ext cx="453151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3" name="Text 21"/>
          <p:cNvSpPr/>
          <p:nvPr/>
        </p:nvSpPr>
        <p:spPr>
          <a:xfrm>
            <a:off x="4666774" y="4074795"/>
            <a:ext cx="42102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i&lt;n; i++)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8969693" y="4617720"/>
            <a:ext cx="453151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5" name="Text 23"/>
          <p:cNvSpPr/>
          <p:nvPr/>
        </p:nvSpPr>
        <p:spPr>
          <a:xfrm>
            <a:off x="9198293" y="4074795"/>
            <a:ext cx="42102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F(int x)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3501211" y="4617720"/>
            <a:ext cx="383428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7" name="Text 25"/>
          <p:cNvSpPr/>
          <p:nvPr/>
        </p:nvSpPr>
        <p:spPr>
          <a:xfrm>
            <a:off x="13729811" y="4074795"/>
            <a:ext cx="34921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Estático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52500" y="5417820"/>
            <a:ext cx="3485674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9" name="Text 27"/>
          <p:cNvSpPr/>
          <p:nvPr/>
        </p:nvSpPr>
        <p:spPr>
          <a:xfrm>
            <a:off x="1181100" y="4874895"/>
            <a:ext cx="31330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4438174" y="5417820"/>
            <a:ext cx="453151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31" name="Text 29"/>
          <p:cNvSpPr/>
          <p:nvPr/>
        </p:nvSpPr>
        <p:spPr>
          <a:xfrm>
            <a:off x="4666774" y="4874895"/>
            <a:ext cx="42102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i&lt;n; ++i)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8969693" y="5417820"/>
            <a:ext cx="453151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33" name="Text 31"/>
          <p:cNvSpPr/>
          <p:nvPr/>
        </p:nvSpPr>
        <p:spPr>
          <a:xfrm>
            <a:off x="9198293" y="4874895"/>
            <a:ext cx="42102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f(int x)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3501211" y="5417820"/>
            <a:ext cx="383428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35" name="Text 33"/>
          <p:cNvSpPr/>
          <p:nvPr/>
        </p:nvSpPr>
        <p:spPr>
          <a:xfrm>
            <a:off x="13729811" y="4874895"/>
            <a:ext cx="34921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Estático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>
            <a:off x="952500" y="6217920"/>
            <a:ext cx="3485674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37" name="Text 35"/>
          <p:cNvSpPr/>
          <p:nvPr/>
        </p:nvSpPr>
        <p:spPr>
          <a:xfrm>
            <a:off x="1181100" y="5674995"/>
            <a:ext cx="313304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VBA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4438174" y="6217920"/>
            <a:ext cx="453151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39" name="Text 37"/>
          <p:cNvSpPr/>
          <p:nvPr/>
        </p:nvSpPr>
        <p:spPr>
          <a:xfrm>
            <a:off x="4666774" y="5674995"/>
            <a:ext cx="42102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8969693" y="6217920"/>
            <a:ext cx="453151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41" name="Text 39"/>
          <p:cNvSpPr/>
          <p:nvPr/>
        </p:nvSpPr>
        <p:spPr>
          <a:xfrm>
            <a:off x="9198293" y="5674995"/>
            <a:ext cx="42102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F(x)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3501211" y="6217920"/>
            <a:ext cx="3834289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43" name="Text 41"/>
          <p:cNvSpPr/>
          <p:nvPr/>
        </p:nvSpPr>
        <p:spPr>
          <a:xfrm>
            <a:off x="13729811" y="5674995"/>
            <a:ext cx="34921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8" name="Shape 45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9" name="Shape 46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50" name="Text 47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pasos para resolver un ejercicio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426970"/>
            <a:ext cx="309372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655570"/>
            <a:ext cx="34030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1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952500" y="3103245"/>
            <a:ext cx="340309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Reescribe el enunciado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" y="3631882"/>
            <a:ext cx="318653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tus palabras, sin lenguaje técnico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4274820" y="2426970"/>
            <a:ext cx="309372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274820" y="2655570"/>
            <a:ext cx="34030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4274820" y="3103245"/>
            <a:ext cx="318653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entradas y salidas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274820" y="3989070"/>
            <a:ext cx="318653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recibe y qué debe devolver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597140" y="2426970"/>
            <a:ext cx="309372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597140" y="2655570"/>
            <a:ext cx="34030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3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597140" y="3103245"/>
            <a:ext cx="318653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el pseudocódigo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597140" y="3989070"/>
            <a:ext cx="318653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preocuparte por la sintaxis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919460" y="2426970"/>
            <a:ext cx="309372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19460" y="2655570"/>
            <a:ext cx="34030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4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919460" y="3103245"/>
            <a:ext cx="340309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Traduce al lenguaje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919460" y="3631882"/>
            <a:ext cx="34030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Recién aquí abres el editor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4241780" y="2426970"/>
            <a:ext cx="3093720" cy="57150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14241780" y="2655570"/>
            <a:ext cx="34030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5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4241780" y="3103245"/>
            <a:ext cx="340309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los casos límite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4241780" y="3631882"/>
            <a:ext cx="34030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Cero, uno, negativo y vacío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8" name="Shape 25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9" name="Shape 26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30" name="Text 27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022407"/>
            <a:ext cx="85915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38" kern="0" dirty="0">
                <a:solidFill>
                  <a:srgbClr val="DB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 DE LA SESIÓN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952500" y="4489132"/>
            <a:ext cx="8591550" cy="1965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960"/>
              </a:lnSpc>
              <a:buNone/>
            </a:pPr>
            <a:r>
              <a:rPr lang="en-US" sz="16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70 %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9525000" y="4213860"/>
            <a:ext cx="8044815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7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tiempo de programación se va en leer y depurar código, no en escribirlo.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525000" y="5532120"/>
            <a:ext cx="804481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DB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el curso evalúa legibilidad y pruebas, no solo que el programa compile.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02717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4589145"/>
            <a:ext cx="1466850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05"/>
              </a:lnSpc>
              <a:buNone/>
            </a:pPr>
            <a:r>
              <a:rPr lang="en-US" sz="7500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Práctica y depuración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52500" y="5932170"/>
            <a:ext cx="1047750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09"/>
              </a:lnSpc>
              <a:buNone/>
            </a:pPr>
            <a:r>
              <a:rPr lang="en-US" sz="2700" dirty="0">
                <a:solidFill>
                  <a:srgbClr val="B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Escribir, romper y arreglar — en ese orden.</a:t>
            </a:r>
            <a:endParaRPr lang="en-US" sz="2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errores que veremos hoy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350770"/>
            <a:ext cx="7962900" cy="192547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5875" y="2684145"/>
            <a:ext cx="8025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01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285875" y="3093720"/>
            <a:ext cx="802576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30"/>
              </a:lnSpc>
              <a:buNone/>
            </a:pPr>
            <a:r>
              <a:rPr lang="en-US" sz="23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 infinito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285875" y="3596164"/>
            <a:ext cx="802576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variable de control nunca se modifica dentro del cuerpo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72600" y="2350770"/>
            <a:ext cx="7962900" cy="192547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05975" y="2684145"/>
            <a:ext cx="8025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02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705975" y="3093720"/>
            <a:ext cx="802576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30"/>
              </a:lnSpc>
              <a:buNone/>
            </a:pPr>
            <a:r>
              <a:rPr lang="en-US" sz="23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Off-by-one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9705975" y="3596164"/>
            <a:ext cx="802576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Confundir &lt; con &lt;= al recorrer un arreglo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4581049"/>
            <a:ext cx="7962900" cy="192547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5875" y="4914424"/>
            <a:ext cx="8025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03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85875" y="5323999"/>
            <a:ext cx="802576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30"/>
              </a:lnSpc>
              <a:buNone/>
            </a:pPr>
            <a:r>
              <a:rPr lang="en-US" sz="23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División entera silenciosa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1285875" y="5826443"/>
            <a:ext cx="802576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 devuelve 3 en C++, C# y VBA con enteros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372600" y="4581049"/>
            <a:ext cx="7962900" cy="192547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05975" y="4914424"/>
            <a:ext cx="802576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04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705975" y="5323999"/>
            <a:ext cx="802576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30"/>
              </a:lnSpc>
              <a:buNone/>
            </a:pPr>
            <a:r>
              <a:rPr lang="en-US" sz="23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fuera de alcance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9705975" y="5826443"/>
            <a:ext cx="802576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Declarar dentro del bucle y usarla fuera de él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1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5" name="Shape 22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6" name="Text 23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 DE DEPURACIÓN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Rubber duck debugging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503170"/>
            <a:ext cx="9025890" cy="1969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76"/>
              </a:lnSpc>
              <a:buNone/>
            </a:pPr>
            <a:r>
              <a:rPr lang="en-US" sz="3900" i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«Explica tu código en voz alta, línea por línea, a alguien que no puede ayudarte.»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52500" y="4758690"/>
            <a:ext cx="3562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3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FUNCIONA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952500" y="5130165"/>
            <a:ext cx="3335655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B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Verbalizar obliga a revisar suposiciones que al leer se saltan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4724400" y="4758690"/>
            <a:ext cx="3562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3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 USARLO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4724400" y="5130165"/>
            <a:ext cx="3335655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B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pedir ayuda al profesor o al compañero de al lado</a:t>
            </a:r>
            <a:endParaRPr lang="en-US" sz="202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74955" y="2546985"/>
            <a:ext cx="36195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LABORATORIO · 35 MINUTOS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en parejas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312670"/>
            <a:ext cx="9341796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2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una función que reciba una lista de calificaciones y devuelva cuántas están por encima del promedio del grupo.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486150"/>
            <a:ext cx="9069705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743325"/>
            <a:ext cx="99766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RESTRICCIONES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52500" y="4171950"/>
            <a:ext cx="997667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función auxiliar · sin librerías externas · debe manejar lista vacía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631805" y="2312670"/>
            <a:ext cx="6703695" cy="2561272"/>
          </a:xfrm>
          <a:prstGeom prst="roundRect">
            <a:avLst>
              <a:gd name="adj" fmla="val 5206"/>
            </a:avLst>
          </a:prstGeom>
          <a:solidFill>
            <a:srgbClr val="0B1B3A"/>
          </a:solidFill>
          <a:ln/>
        </p:spPr>
      </p:sp>
      <p:sp>
        <p:nvSpPr>
          <p:cNvPr id="9" name="Text 7"/>
          <p:cNvSpPr/>
          <p:nvPr/>
        </p:nvSpPr>
        <p:spPr>
          <a:xfrm>
            <a:off x="11012805" y="2693670"/>
            <a:ext cx="653586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012805" y="3179445"/>
            <a:ext cx="653586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+ tres casos de prueba comentados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012805" y="3774757"/>
            <a:ext cx="6119946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B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el archivo al aula virtual antes de que termine la sesión. Lenguaje libre entre los cuatro del curso.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Shape 13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Shape 14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18" name="Text 15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RÁPIDA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46685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veces se ejecuta el cuerpo del bucle?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312670"/>
            <a:ext cx="7924800" cy="2414270"/>
          </a:xfrm>
          <a:prstGeom prst="roundRect">
            <a:avLst>
              <a:gd name="adj" fmla="val 5523"/>
            </a:avLst>
          </a:prstGeom>
          <a:solidFill>
            <a:srgbClr val="0B1B3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55570"/>
            <a:ext cx="7456170" cy="4702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087688"/>
            <a:ext cx="7456170" cy="4702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 &lt; </a:t>
            </a:r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5400" y="3519805"/>
            <a:ext cx="7456170" cy="4702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</a:t>
            </a:r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3951922"/>
            <a:ext cx="7456170" cy="4702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6344"/>
              </a:lnSpc>
              <a:buNone/>
            </a:pPr>
            <a:r>
              <a:rPr lang="en-US" sz="2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410700" y="2312670"/>
            <a:ext cx="38481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05975" y="2626995"/>
            <a:ext cx="2247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026015" y="2607945"/>
            <a:ext cx="10609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veces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3487400" y="2312670"/>
            <a:ext cx="38481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82675" y="2626995"/>
            <a:ext cx="2247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102715" y="2607945"/>
            <a:ext cx="10609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veces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410700" y="3455670"/>
            <a:ext cx="38481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05975" y="3769995"/>
            <a:ext cx="2247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026015" y="3750945"/>
            <a:ext cx="121983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veces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3487400" y="3455670"/>
            <a:ext cx="38481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82675" y="3769995"/>
            <a:ext cx="2247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4102715" y="3750945"/>
            <a:ext cx="10609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Infinitas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5" name="Shape 22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Shape 23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7" name="Text 24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46685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veces — la traza lo demuestra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3007995"/>
            <a:ext cx="2857500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522220"/>
            <a:ext cx="24860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ITERACIÓN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3810000" y="3007995"/>
            <a:ext cx="2857500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038600" y="2522220"/>
            <a:ext cx="24860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667500" y="3007995"/>
            <a:ext cx="2857500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2522220"/>
            <a:ext cx="24860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525000" y="3007995"/>
            <a:ext cx="2857500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2522220"/>
            <a:ext cx="24860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382500" y="3007995"/>
            <a:ext cx="2857500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2611100" y="2522220"/>
            <a:ext cx="24860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52500" y="3827145"/>
            <a:ext cx="285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" y="3274695"/>
            <a:ext cx="2486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al entrar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3810000" y="3827145"/>
            <a:ext cx="285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7" name="Text 15"/>
          <p:cNvSpPr/>
          <p:nvPr/>
        </p:nvSpPr>
        <p:spPr>
          <a:xfrm>
            <a:off x="4038600" y="3274695"/>
            <a:ext cx="2486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667500" y="3827145"/>
            <a:ext cx="285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9" name="Text 17"/>
          <p:cNvSpPr/>
          <p:nvPr/>
        </p:nvSpPr>
        <p:spPr>
          <a:xfrm>
            <a:off x="6896100" y="3274695"/>
            <a:ext cx="2486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0" y="3827145"/>
            <a:ext cx="285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1" name="Text 19"/>
          <p:cNvSpPr/>
          <p:nvPr/>
        </p:nvSpPr>
        <p:spPr>
          <a:xfrm>
            <a:off x="9753600" y="3274695"/>
            <a:ext cx="2486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2382500" y="3827145"/>
            <a:ext cx="285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3" name="Text 21"/>
          <p:cNvSpPr/>
          <p:nvPr/>
        </p:nvSpPr>
        <p:spPr>
          <a:xfrm>
            <a:off x="12611100" y="3274695"/>
            <a:ext cx="2486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52500" y="4636770"/>
            <a:ext cx="285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4084320"/>
            <a:ext cx="2486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al salir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810000" y="4636770"/>
            <a:ext cx="285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7" name="Text 25"/>
          <p:cNvSpPr/>
          <p:nvPr/>
        </p:nvSpPr>
        <p:spPr>
          <a:xfrm>
            <a:off x="4038600" y="4084320"/>
            <a:ext cx="2486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6667500" y="4636770"/>
            <a:ext cx="285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9" name="Text 27"/>
          <p:cNvSpPr/>
          <p:nvPr/>
        </p:nvSpPr>
        <p:spPr>
          <a:xfrm>
            <a:off x="6896100" y="4084320"/>
            <a:ext cx="2486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525000" y="4636770"/>
            <a:ext cx="285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31" name="Text 29"/>
          <p:cNvSpPr/>
          <p:nvPr/>
        </p:nvSpPr>
        <p:spPr>
          <a:xfrm>
            <a:off x="9753600" y="4084320"/>
            <a:ext cx="2486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2382500" y="4636770"/>
            <a:ext cx="285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33" name="Text 31"/>
          <p:cNvSpPr/>
          <p:nvPr/>
        </p:nvSpPr>
        <p:spPr>
          <a:xfrm>
            <a:off x="12611100" y="4084320"/>
            <a:ext cx="24860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52500" y="4989195"/>
            <a:ext cx="11525250" cy="438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424"/>
              </a:lnSpc>
              <a:buNone/>
            </a:pPr>
            <a:r>
              <a:rPr lang="en-US" sz="217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quinta evaluación i vale 12, la condición es falsa y el bucle termina.</a:t>
            </a:r>
            <a:endParaRPr lang="en-US" sz="2175" dirty="0"/>
          </a:p>
        </p:txBody>
      </p:sp>
      <p:sp>
        <p:nvSpPr>
          <p:cNvPr id="35" name="Shape 33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9" name="Shape 36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0" name="Shape 37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41" name="Text 38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REFACTORIZACIÓN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y después de extraer una función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74570"/>
            <a:ext cx="87801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ANTES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52500" y="2722245"/>
            <a:ext cx="7981950" cy="3436779"/>
          </a:xfrm>
          <a:prstGeom prst="roundRect">
            <a:avLst>
              <a:gd name="adj" fmla="val 3880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3036570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66825" y="3437731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notas: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6825" y="3838892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66825" y="4240054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 = total /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(notas)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6825" y="4641215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arriba =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66825" y="5042376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notas: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6825" y="5443538"/>
            <a:ext cx="7573899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&gt; prom: arriba +=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353550" y="2274570"/>
            <a:ext cx="87801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353550" y="2722245"/>
            <a:ext cx="7981950" cy="3016568"/>
          </a:xfrm>
          <a:prstGeom prst="roundRect">
            <a:avLst>
              <a:gd name="adj" fmla="val 4421"/>
            </a:avLst>
          </a:prstGeom>
          <a:solidFill>
            <a:srgbClr val="0B1B3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8350" y="3027045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(notas):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658350" y="3428206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(notas) /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(notas)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658350" y="3829367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58350" y="4230529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sobre_promedio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(notas):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658350" y="4631690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promedio(notas)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658350" y="5032851"/>
            <a:ext cx="7593521" cy="4392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([n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notas 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7AA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40389"/>
              </a:lnSpc>
              <a:buNone/>
            </a:pPr>
            <a:r>
              <a:rPr lang="en-US" sz="19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&gt; p])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52500" y="6482874"/>
            <a:ext cx="12573000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funciones con nombre son más fáciles de probar que siete líneas seguidas.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Shape 23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7" name="Shape 24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8" name="Text 25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cuesta cada estructura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350770"/>
            <a:ext cx="5232400" cy="2746057"/>
          </a:xfrm>
          <a:prstGeom prst="roundRect">
            <a:avLst>
              <a:gd name="adj" fmla="val 4856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3025" y="2741295"/>
            <a:ext cx="489648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43025" y="3503295"/>
            <a:ext cx="489648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directo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43025" y="4012882"/>
            <a:ext cx="458489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una celda o un índice: el costo no depende del tamaño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27800" y="2350770"/>
            <a:ext cx="5232400" cy="2746057"/>
          </a:xfrm>
          <a:prstGeom prst="roundRect">
            <a:avLst>
              <a:gd name="adj" fmla="val 4856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8325" y="2741295"/>
            <a:ext cx="489648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918325" y="3503295"/>
            <a:ext cx="489648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bucle simple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918325" y="4012882"/>
            <a:ext cx="458489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Recorrer la lista una vez para sumar o contar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103100" y="2350770"/>
            <a:ext cx="5232400" cy="2746057"/>
          </a:xfrm>
          <a:prstGeom prst="roundRect">
            <a:avLst>
              <a:gd name="adj" fmla="val 4856"/>
            </a:avLst>
          </a:prstGeom>
          <a:solidFill>
            <a:srgbClr val="0B1B3A"/>
          </a:solidFill>
          <a:ln/>
        </p:spPr>
      </p:sp>
      <p:sp>
        <p:nvSpPr>
          <p:cNvPr id="13" name="Text 11"/>
          <p:cNvSpPr/>
          <p:nvPr/>
        </p:nvSpPr>
        <p:spPr>
          <a:xfrm>
            <a:off x="12484100" y="2731770"/>
            <a:ext cx="49174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484100" y="3493770"/>
            <a:ext cx="491744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2250" b="1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Bucle dentro de bucle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84100" y="4003357"/>
            <a:ext cx="460451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B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todos contra todos: evítalo si puedes precalcular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0" name="Shape 17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1" name="Shape 18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DBE3EF"/>
          </a:solidFill>
          <a:ln/>
        </p:spPr>
      </p:sp>
      <p:sp>
        <p:nvSpPr>
          <p:cNvPr id="22" name="Text 19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05113"/>
            <a:ext cx="14716125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195"/>
              </a:lnSpc>
              <a:buNone/>
            </a:pPr>
            <a:r>
              <a:rPr lang="en-US" sz="5700" i="1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«Depurar es el doble de difícil que escribir el código. Si lo escribes tan ingeniosamente como puedes, por definición no serás capaz de depurarlo.»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52500" y="6958013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W. Kernighan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52500" y="7358063"/>
            <a:ext cx="18021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F9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Elements of Programming Style, 1978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02717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4589145"/>
            <a:ext cx="1466850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05"/>
              </a:lnSpc>
              <a:buNone/>
            </a:pPr>
            <a:r>
              <a:rPr lang="en-US" sz="7500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y evaluación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52500" y="5932170"/>
            <a:ext cx="1047750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09"/>
              </a:lnSpc>
              <a:buNone/>
            </a:pPr>
            <a:r>
              <a:rPr lang="en-US" sz="2700" dirty="0">
                <a:solidFill>
                  <a:srgbClr val="B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lleva el alumno y con qué se le va a medir.</a:t>
            </a:r>
            <a:endParaRPr lang="en-US" sz="2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ideas para llevarse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388870"/>
            <a:ext cx="5181600" cy="571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12720"/>
            <a:ext cx="56997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952500" y="3160395"/>
            <a:ext cx="56997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5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bucle necesita tres piezas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3736657"/>
            <a:ext cx="5337048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Inicialización, condición de salida y avance — en cualquier lenguaje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6553200" y="2388870"/>
            <a:ext cx="5181600" cy="571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553200" y="2712720"/>
            <a:ext cx="56997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6553200" y="3160395"/>
            <a:ext cx="56997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5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función, una responsabilidad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553200" y="3736657"/>
            <a:ext cx="5337048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nombre necesita una «y», hay dos funciones escondidas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2153900" y="2388870"/>
            <a:ext cx="5181600" cy="5715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153900" y="2712720"/>
            <a:ext cx="56997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153900" y="3160395"/>
            <a:ext cx="569976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250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los casos límite primero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153900" y="3736657"/>
            <a:ext cx="5337048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Vacío, cero, uno y negativo revelan la mayoría de los errores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0" name="Shape 17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1" name="Shape 18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y criterios de evaluación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312670"/>
            <a:ext cx="8123301" cy="1358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62"/>
              </a:lnSpc>
              <a:buNone/>
            </a:pPr>
            <a:r>
              <a:rPr lang="en-US" sz="24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Reescribe el ejercicio del laboratorio en un segundo lenguaje del curso y documenta las diferencias que encontraste.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952500" y="3880485"/>
            <a:ext cx="78867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4137660"/>
            <a:ext cx="193379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" y="4471035"/>
            <a:ext cx="19337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Viernes 23:59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243897" y="4137660"/>
            <a:ext cx="371235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43897" y="4471035"/>
            <a:ext cx="371235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fuente + README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48800" y="2950845"/>
            <a:ext cx="7223760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9448800" y="2503170"/>
            <a:ext cx="74404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672560" y="2950845"/>
            <a:ext cx="662940" cy="19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6672560" y="2503170"/>
            <a:ext cx="7391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48800" y="3741420"/>
            <a:ext cx="722376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5" name="Text 13"/>
          <p:cNvSpPr/>
          <p:nvPr/>
        </p:nvSpPr>
        <p:spPr>
          <a:xfrm>
            <a:off x="9448800" y="3198495"/>
            <a:ext cx="74404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del resultado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16672560" y="3741420"/>
            <a:ext cx="66294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7" name="Text 15"/>
          <p:cNvSpPr/>
          <p:nvPr/>
        </p:nvSpPr>
        <p:spPr>
          <a:xfrm>
            <a:off x="16672560" y="3198495"/>
            <a:ext cx="7391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40 %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9448800" y="4522470"/>
            <a:ext cx="722376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9" name="Text 17"/>
          <p:cNvSpPr/>
          <p:nvPr/>
        </p:nvSpPr>
        <p:spPr>
          <a:xfrm>
            <a:off x="9448800" y="3979545"/>
            <a:ext cx="74404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de casos límite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6672560" y="4522470"/>
            <a:ext cx="66294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1" name="Text 19"/>
          <p:cNvSpPr/>
          <p:nvPr/>
        </p:nvSpPr>
        <p:spPr>
          <a:xfrm>
            <a:off x="16672560" y="3979545"/>
            <a:ext cx="7391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25 %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9448800" y="5303520"/>
            <a:ext cx="722376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3" name="Text 21"/>
          <p:cNvSpPr/>
          <p:nvPr/>
        </p:nvSpPr>
        <p:spPr>
          <a:xfrm>
            <a:off x="9448800" y="4760595"/>
            <a:ext cx="74404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Legibilidad y nombres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16672560" y="5303520"/>
            <a:ext cx="66294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5" name="Text 23"/>
          <p:cNvSpPr/>
          <p:nvPr/>
        </p:nvSpPr>
        <p:spPr>
          <a:xfrm>
            <a:off x="16672560" y="4760595"/>
            <a:ext cx="7391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20 %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9448800" y="6084570"/>
            <a:ext cx="722376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7" name="Text 25"/>
          <p:cNvSpPr/>
          <p:nvPr/>
        </p:nvSpPr>
        <p:spPr>
          <a:xfrm>
            <a:off x="9448800" y="5541645"/>
            <a:ext cx="74404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2175" dirty="0"/>
          </a:p>
        </p:txBody>
      </p:sp>
      <p:sp>
        <p:nvSpPr>
          <p:cNvPr id="28" name="Shape 26"/>
          <p:cNvSpPr/>
          <p:nvPr/>
        </p:nvSpPr>
        <p:spPr>
          <a:xfrm>
            <a:off x="16672560" y="6084570"/>
            <a:ext cx="66294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29" name="Text 27"/>
          <p:cNvSpPr/>
          <p:nvPr/>
        </p:nvSpPr>
        <p:spPr>
          <a:xfrm>
            <a:off x="16672560" y="5541645"/>
            <a:ext cx="7391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15 %</a:t>
            </a:r>
            <a:endParaRPr lang="en-US" sz="2175" dirty="0"/>
          </a:p>
        </p:txBody>
      </p:sp>
      <p:sp>
        <p:nvSpPr>
          <p:cNvPr id="30" name="Shape 28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4" name="Shape 31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5" name="Shape 32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6" name="Text 33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seguir practicando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3264217"/>
            <a:ext cx="1428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03195"/>
            <a:ext cx="742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962150" y="2617470"/>
            <a:ext cx="44005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oficial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05550" y="2637472"/>
            <a:ext cx="7421562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docs, Microsoft Learn para C# y VBA, cppreference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4187190"/>
            <a:ext cx="1428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626168"/>
            <a:ext cx="742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962150" y="3540443"/>
            <a:ext cx="44005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semanales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05550" y="3560445"/>
            <a:ext cx="8554879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problemas graduados publicados cada lunes en el aula virtual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52500" y="5110163"/>
            <a:ext cx="14287500" cy="9525"/>
          </a:xfrm>
          <a:prstGeom prst="rect">
            <a:avLst/>
          </a:prstGeom>
          <a:solidFill>
            <a:srgbClr val="DBE3EF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549140"/>
            <a:ext cx="7429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962150" y="4463415"/>
            <a:ext cx="44005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Asesoría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5550" y="4483418"/>
            <a:ext cx="6918817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 y jueves, 16:00 a 18:00, laboratorio de cómputo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04950" y="9272588"/>
            <a:ext cx="72434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PROGRAMACIÓN I · C# / C++ / PYTHON / VBA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47561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0" name="Shape 17"/>
          <p:cNvSpPr/>
          <p:nvPr/>
        </p:nvSpPr>
        <p:spPr>
          <a:xfrm>
            <a:off x="154800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1" name="Shape 18"/>
          <p:cNvSpPr/>
          <p:nvPr/>
        </p:nvSpPr>
        <p:spPr>
          <a:xfrm>
            <a:off x="16203930" y="9377363"/>
            <a:ext cx="4953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1440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6206490"/>
            <a:ext cx="18021300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77"/>
              </a:lnSpc>
              <a:buNone/>
            </a:pPr>
            <a:r>
              <a:rPr lang="en-US" sz="7200" dirty="0">
                <a:solidFill>
                  <a:srgbClr val="F7F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952500" y="7471410"/>
            <a:ext cx="942975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2550" dirty="0">
                <a:solidFill>
                  <a:srgbClr val="B8C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próxima sesión: arreglos y recorridos anidados.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952500" y="8534400"/>
            <a:ext cx="16383000" cy="9525"/>
          </a:xfrm>
          <a:prstGeom prst="rect">
            <a:avLst/>
          </a:prstGeom>
          <a:solidFill>
            <a:srgbClr val="F7F8FA">
              <a:alpha val="1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8886825"/>
            <a:ext cx="242955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F9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2500" y="9220200"/>
            <a:ext cx="24295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davidowa.github.io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694589" y="8886825"/>
            <a:ext cx="394565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F9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ASESORÍA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94589" y="9220200"/>
            <a:ext cx="39456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 y jueves · 16:00–18:00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7061180" y="9267825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9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 DE LA PLANTILLA · BORRAR ANTES DE PRESENTAR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layout usar para cada cosa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350770"/>
            <a:ext cx="68580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90700" y="2350770"/>
            <a:ext cx="641230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Portada oscura — título de unidad, profesor y sesión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448800" y="2350770"/>
            <a:ext cx="68580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02–04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7000" y="2350770"/>
            <a:ext cx="725995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Agenda, objetivos y mapa del curso — apertura de cada sesión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3402330"/>
            <a:ext cx="6858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3402330"/>
            <a:ext cx="622884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Divisor de bloque — repítelo idéntico entre bloques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448800" y="3402330"/>
            <a:ext cx="6858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06–07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87000" y="3402330"/>
            <a:ext cx="515980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y diagrama — teoría sin sintaxis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" y="4297680"/>
            <a:ext cx="68580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08–11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790700" y="4297680"/>
            <a:ext cx="725995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oscuro, claro, con salida y VBA — máximo 10 líneas por bloque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448800" y="4297680"/>
            <a:ext cx="68580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12, 20, 26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287000" y="4297680"/>
            <a:ext cx="502179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— comparativas, trazas y rúbricas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500" y="5488305"/>
            <a:ext cx="6858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13–14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90700" y="5488305"/>
            <a:ext cx="60754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por pasos y cifra grande — respiro visual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448800" y="5488305"/>
            <a:ext cx="6858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18–19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287000" y="5488305"/>
            <a:ext cx="633561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y quiz — un solo enunciado por diapositiva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04950" y="9272588"/>
            <a:ext cx="50704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GUÍA INTERNA DE LA PLANTILLA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B45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 DE LA PLANTILLA · BORRAR ANTES DE PRESENTAR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85875"/>
            <a:ext cx="129921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24"/>
              </a:lnSpc>
              <a:buNone/>
            </a:pPr>
            <a:r>
              <a:rPr lang="en-US" sz="4350" b="1" spc="-6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estilo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350770"/>
            <a:ext cx="8675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52500" y="2817495"/>
            <a:ext cx="1143000" cy="723900"/>
          </a:xfrm>
          <a:prstGeom prst="roundRect">
            <a:avLst>
              <a:gd name="adj" fmla="val 13158"/>
            </a:avLst>
          </a:prstGeom>
          <a:solidFill>
            <a:srgbClr val="0B1B3A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2817495"/>
            <a:ext cx="1143000" cy="723900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3619500" y="2817495"/>
            <a:ext cx="1143000" cy="723900"/>
          </a:xfrm>
          <a:prstGeom prst="roundRect">
            <a:avLst>
              <a:gd name="adj" fmla="val 13158"/>
            </a:avLst>
          </a:prstGeom>
          <a:solidFill>
            <a:srgbClr val="E8871E"/>
          </a:solidFill>
          <a:ln/>
        </p:spPr>
      </p:sp>
      <p:sp>
        <p:nvSpPr>
          <p:cNvPr id="8" name="Shape 6"/>
          <p:cNvSpPr/>
          <p:nvPr/>
        </p:nvSpPr>
        <p:spPr>
          <a:xfrm>
            <a:off x="4953000" y="2817495"/>
            <a:ext cx="1162050" cy="742950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3750945"/>
            <a:ext cx="8123301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para estructura, naranja del pato solo para señalar una cosa por diapositiva.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448800" y="2350770"/>
            <a:ext cx="8675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TIPOGRAFÍA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448800" y="2817495"/>
            <a:ext cx="8675370" cy="499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00"/>
              </a:lnSpc>
              <a:buNone/>
            </a:pPr>
            <a:r>
              <a:rPr lang="en-US" sz="3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 Serif — portadas y citas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448800" y="3469005"/>
            <a:ext cx="86753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 Tight — títulos y texto corrido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448800" y="4030980"/>
            <a:ext cx="8675370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JetBrains Mono — código y etiquetas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2500" y="4926330"/>
            <a:ext cx="8675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52500" y="5354955"/>
            <a:ext cx="8123301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por debajo de 24 px. Máximo cuatro bloques de contenido por diapositiva. Títulos como capítulos, no como conclusiones.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448800" y="4926330"/>
            <a:ext cx="8675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448800" y="5354955"/>
            <a:ext cx="812330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 oscura para el lenguaje protagonista, clara para el contraste o la salida. Cada línea es un elemento independiente: se edita sin romper el resto.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52500" y="8924925"/>
            <a:ext cx="16383000" cy="9525"/>
          </a:xfrm>
          <a:prstGeom prst="rect">
            <a:avLst/>
          </a:prstGeom>
          <a:solidFill>
            <a:srgbClr val="DBE3EF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9239250"/>
            <a:ext cx="323850" cy="3238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04950" y="9272588"/>
            <a:ext cx="50704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5B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GUÍA INTERNA DE LA PLANTILLA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7061180" y="9272588"/>
            <a:ext cx="3505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2026-08-08T21:01:23Z</dcterms:created>
  <dcterms:modified xsi:type="dcterms:W3CDTF">2026-08-08T21:01:23Z</dcterms:modified>
</cp:coreProperties>
</file>